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1285" r:id="rId2"/>
    <p:sldId id="1734" r:id="rId3"/>
    <p:sldId id="1676" r:id="rId4"/>
    <p:sldId id="1681" r:id="rId5"/>
    <p:sldId id="1609" r:id="rId6"/>
    <p:sldId id="1684" r:id="rId7"/>
    <p:sldId id="1723" r:id="rId8"/>
    <p:sldId id="259" r:id="rId9"/>
    <p:sldId id="1635" r:id="rId10"/>
    <p:sldId id="1526" r:id="rId11"/>
    <p:sldId id="1619" r:id="rId12"/>
    <p:sldId id="1620" r:id="rId13"/>
    <p:sldId id="1652" r:id="rId14"/>
    <p:sldId id="1631" r:id="rId15"/>
    <p:sldId id="1720" r:id="rId16"/>
    <p:sldId id="1636" r:id="rId17"/>
    <p:sldId id="1615" r:id="rId18"/>
    <p:sldId id="1650" r:id="rId19"/>
    <p:sldId id="145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E9660DE-6DF6-1D41-8F94-3B7C91B77039}">
          <p14:sldIdLst>
            <p14:sldId id="1285"/>
            <p14:sldId id="1734"/>
            <p14:sldId id="1676"/>
            <p14:sldId id="1681"/>
            <p14:sldId id="1609"/>
            <p14:sldId id="1684"/>
            <p14:sldId id="1723"/>
            <p14:sldId id="259"/>
            <p14:sldId id="1635"/>
            <p14:sldId id="1526"/>
            <p14:sldId id="1619"/>
            <p14:sldId id="1620"/>
            <p14:sldId id="1652"/>
            <p14:sldId id="1631"/>
            <p14:sldId id="1720"/>
            <p14:sldId id="1636"/>
            <p14:sldId id="1615"/>
            <p14:sldId id="1650"/>
            <p14:sldId id="14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6900"/>
  </p:normalViewPr>
  <p:slideViewPr>
    <p:cSldViewPr snapToGrid="0">
      <p:cViewPr varScale="1">
        <p:scale>
          <a:sx n="109" d="100"/>
          <a:sy n="109" d="100"/>
        </p:scale>
        <p:origin x="21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D9849-C366-C645-B015-2B5D5198FFD9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1E7B5-E713-B747-BC3A-8C09C9F1B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1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00422-019-00805-w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280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Maxwell:” </a:t>
            </a:r>
            <a:r>
              <a:rPr lang="en-US" b="1" dirty="0"/>
              <a:t>L.D. Landau &amp; E.M. Lifshitz</a:t>
            </a:r>
            <a:r>
              <a:rPr lang="en-US" dirty="0"/>
              <a:t>, </a:t>
            </a:r>
            <a:r>
              <a:rPr lang="en-US" i="1" dirty="0"/>
              <a:t>The Classical Theory of Fields</a:t>
            </a:r>
            <a:r>
              <a:rPr lang="en-US" dirty="0"/>
              <a:t>, Vol. 2 of </a:t>
            </a:r>
            <a:r>
              <a:rPr lang="en-US" i="1" dirty="0"/>
              <a:t>Course of Theoretical Physics</a:t>
            </a:r>
            <a:endParaRPr lang="en-US" dirty="0"/>
          </a:p>
          <a:p>
            <a:r>
              <a:rPr lang="en-US" dirty="0"/>
              <a:t>➤ Chapter 1–3 give an elegant derivation using field </a:t>
            </a:r>
            <a:r>
              <a:rPr lang="en-US" dirty="0" err="1"/>
              <a:t>Lagrangians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L.D. Landau &amp; E.M. Lifshitz</a:t>
            </a:r>
            <a:r>
              <a:rPr lang="en-US" dirty="0"/>
              <a:t>, </a:t>
            </a:r>
            <a:r>
              <a:rPr lang="en-US" i="1" dirty="0"/>
              <a:t>Quantum Mechanics: Non-Relativistic Theory</a:t>
            </a:r>
            <a:r>
              <a:rPr lang="en-US" dirty="0"/>
              <a:t>, Vol. 3</a:t>
            </a:r>
          </a:p>
          <a:p>
            <a:r>
              <a:rPr lang="en-US" dirty="0"/>
              <a:t>➤ Rigorous derivation of Schrödinger equation from variational principles.</a:t>
            </a:r>
          </a:p>
          <a:p>
            <a:endParaRPr lang="en-US" dirty="0"/>
          </a:p>
          <a:p>
            <a:r>
              <a:rPr lang="en-US" b="1" dirty="0"/>
              <a:t>Parr &amp; Friston (2019)</a:t>
            </a:r>
            <a:r>
              <a:rPr lang="en-US" dirty="0"/>
              <a:t>, </a:t>
            </a:r>
            <a:r>
              <a:rPr lang="en-US" i="1" dirty="0" err="1"/>
              <a:t>Generalised</a:t>
            </a:r>
            <a:r>
              <a:rPr lang="en-US" i="1" dirty="0"/>
              <a:t> Free Energy and Active Inference</a:t>
            </a:r>
            <a:r>
              <a:rPr lang="en-US" dirty="0"/>
              <a:t>:</a:t>
            </a:r>
          </a:p>
          <a:p>
            <a:r>
              <a:rPr lang="en-US" dirty="0"/>
              <a:t>“The accuracy term… acts like a potential energy in that it pulls beliefs towards states that are compatible with sensory data.” (</a:t>
            </a:r>
            <a:r>
              <a:rPr lang="en-US" dirty="0">
                <a:hlinkClick r:id="rId3"/>
              </a:rPr>
              <a:t>DOI:10.1007/s00422-019-00805-w</a:t>
            </a:r>
            <a:r>
              <a:rPr lang="en-US" dirty="0"/>
              <a:t>)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B012-F226-2344-AA4D-5673988A4CA4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75416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BAF8A-708D-C0D7-AFBE-4FF21A91B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A9B5C-DA6B-2885-FC25-852349F14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9E089-B3A9-D618-AA64-44509FF5E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8AA80-4268-8600-E9D2-31376E387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B012-F226-2344-AA4D-5673988A4CA4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15363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B012-F226-2344-AA4D-5673988A4CA4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99357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A49C0-2474-CA81-645B-355774B1F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E39B8-B108-5C78-0D1C-4A6565C54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448D1-E2CF-8186-5583-C2514F833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8B6C4-76BA-0E99-26C6-2498BFEC4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B012-F226-2344-AA4D-5673988A4CA4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37802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 we in BIASlab do want to build such a software with such nice characteristics. It is always about tradeoffs, we do something better in one particular domain, and other libraries might be better in a different domain. But we are really focusing on this particular properties.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Parallel Distributed 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B012-F226-2344-AA4D-5673988A4CA4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40970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B012-F226-2344-AA4D-5673988A4CA4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9640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41220-830E-FAFE-5BCD-C504E133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3543E-D044-014F-DA2A-97052FAD8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ED433-4D9C-5E98-E116-D5D5110E2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effort, limited effort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64725-633F-8C49-F938-D32FB54B8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2ABF90-F290-F54F-A7F0-B831FC2A12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12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effort, limited effort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2ABF90-F290-F54F-A7F0-B831FC2A124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42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6560B-1FAF-E016-E15B-9687E8DD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3FFC3-451A-418E-821C-C3DB67097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2D36E-B1F3-3A8D-F9D8-4AF6DB6F6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effort, limited effort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06E23-A986-6F40-8363-6555250F8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2ABF90-F290-F54F-A7F0-B831FC2A124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26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EB924-FB6E-6A21-4031-C1E52CBEA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E5F88-5435-2428-FF00-07631E0DF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192FA-A80E-7F9E-9EE9-89FF4EE1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965A9-F2CE-0649-B18B-C519DE1ED35F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0E000-2B06-4985-7742-FDDCF845F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4E2AB-7EBD-CDC7-C53A-B153BCBE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34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EADD2-3D33-98C0-EFA1-C8D8357B8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859F0-5595-4D19-19AF-8E6FBE78A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DD066-8057-73D5-6E2E-6D1394FD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0937-8FFB-8743-9C7A-5878E36A549F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99CCA-82A1-97A1-D226-8D433E2EE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2D8E3-6EFA-0E9B-9216-FD74E277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12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9764A-0DA5-903A-91CB-EB5777423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3111F-84F4-CB1B-E9BC-C21A80BCE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B2A57-095C-BBCB-1C38-0A2BDF9EF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12AB-F05F-F147-AB36-D0097C1E2DF0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3456-F36B-A41C-3C10-08F70858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EA0DD-403F-3D67-5B70-939B0B26F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79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969D-38BE-F388-3853-9154915C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C160-44FD-3407-9C70-7668346A9A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AEB9C-DF71-4C82-D33C-FE52235D1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02A8F-1B1B-DDAA-94AF-D291C90EE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6124-1EF1-C04D-8CD9-2B8C5CB6F32C}" type="datetime1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879BF-66A2-7B01-36AD-F9454F4D2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6A6FB-57FB-AC93-1AD7-E5FA9BFB2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8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A0286-2CAC-B523-216A-981FEC44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0EB52-B44B-053A-1371-F889AB330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056B7-3EEC-519B-8807-82B71F803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B4541-518D-B7D8-D057-EE244A90A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8A0B8D-69DC-8C35-821A-3C90883EF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005680-2168-5359-A620-EC1CFCD58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BFC01-70C0-D94C-B7AB-A0216E4CAC84}" type="datetime1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9E346B-92D0-FD18-BCFC-7854D5D1C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F1AE6F-954B-6C89-B453-212CA7F2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86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7E15B-6E7A-0E85-ED06-97E5590F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1071A-E8A4-C842-46C0-7FF69909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51C8-CB69-CF4E-A173-DC6F95D5B872}" type="datetime1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EE8AB-C232-244B-5D3A-2D9F5751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674F1-79D0-E0A2-BA11-2D8A0318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1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2948C-799B-F4D4-927D-840CD4CED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E2FF-71F1-E74B-B823-80B6C145DD95}" type="datetime1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5549F-C0FB-520E-5D53-5CD480FF4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5E6F8-F6E3-EC3F-CA5A-3AB92C5E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1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5E23E-5AA3-04D5-07C2-21D06778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4DC69-A451-18AC-138B-658EB93BB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5D46E-58E4-DE2E-D1DD-F9C62EB89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D5FFF-B7EA-B910-6EF6-CC47B03B8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D7263-D398-6841-9831-1B4069D402B1}" type="datetime1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327D6-854F-4A10-E521-A3310651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82CA8-8627-8E0D-02B2-6D8777C9A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3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9C41-09D4-2F40-B602-9D36C0A71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9B3CB1-3934-B798-A066-F761568785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60FE71-2380-0D62-68F1-4B153E8CF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DC046-6A48-928B-374A-0B9348A87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307A-AFA4-F442-9175-7353D3E0D291}" type="datetime1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CE06B-6578-1D1E-18C8-92FD43F5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6AC46-E0C4-C604-B796-7622D15E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1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9C97A-8C9A-CB4E-B28B-496AAC5DF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63F2A-2D6B-C04F-A7D9-9953B5F2D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C5B96-68D4-0868-8610-C4D9C77B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47C14-CBF8-4743-A1F9-C512E600F4E5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DE194-FF7A-662B-D24C-215FD047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E76B2-A147-C334-1140-4E44AB72C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30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622718-4611-6EC4-0EAB-63C70668B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89172-D3FA-F8CB-74D6-5C545E890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ACD6D-CA3C-BCC7-6CF0-E0D252A77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089F3-0689-3E46-A077-D1714FB807D6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677B8-8D81-50EB-22E0-2F34A1D8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9DF7D-B9D5-414E-E74C-AF91A5D1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59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e Titel transpa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struction 17"/>
          <p:cNvSpPr txBox="1"/>
          <p:nvPr userDrawn="1"/>
        </p:nvSpPr>
        <p:spPr>
          <a:xfrm>
            <a:off x="-2425150" y="892605"/>
            <a:ext cx="2305879" cy="132343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Choose image by clicking on the image icon or replace an existing image with the right mouse button and choose Change image.</a:t>
            </a:r>
          </a:p>
          <a:p>
            <a:r>
              <a:rPr lang="en-US" sz="1000" dirty="0">
                <a:solidFill>
                  <a:schemeClr val="tx1"/>
                </a:solidFill>
              </a:rPr>
              <a:t>If necessary</a:t>
            </a:r>
            <a:r>
              <a:rPr lang="en-US" sz="1000" baseline="0" dirty="0">
                <a:solidFill>
                  <a:schemeClr val="tx1"/>
                </a:solidFill>
              </a:rPr>
              <a:t>, adjust the image with the cropping tool.</a:t>
            </a:r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Rechthoek 14"/>
          <p:cNvSpPr/>
          <p:nvPr userDrawn="1"/>
        </p:nvSpPr>
        <p:spPr>
          <a:xfrm>
            <a:off x="0" y="5472535"/>
            <a:ext cx="12192000" cy="13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Faculty or Service 10"/>
          <p:cNvSpPr>
            <a:spLocks noGrp="1"/>
          </p:cNvSpPr>
          <p:nvPr>
            <p:ph type="body" sz="quarter" idx="10" hasCustomPrompt="1"/>
          </p:nvPr>
        </p:nvSpPr>
        <p:spPr>
          <a:xfrm>
            <a:off x="816000" y="6317828"/>
            <a:ext cx="10566400" cy="32543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Department, Sub department or Capacity group</a:t>
            </a:r>
          </a:p>
        </p:txBody>
      </p:sp>
      <p:pic>
        <p:nvPicPr>
          <p:cNvPr id="14" name="HeaderLogoTU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427" y="84339"/>
            <a:ext cx="2970589" cy="808267"/>
          </a:xfrm>
          <a:prstGeom prst="rect">
            <a:avLst/>
          </a:prstGeom>
        </p:spPr>
      </p:pic>
      <p:sp>
        <p:nvSpPr>
          <p:cNvPr id="13" name="Tijdelijke aanduiding voor afbeelding 12"/>
          <p:cNvSpPr>
            <a:spLocks noGrp="1"/>
          </p:cNvSpPr>
          <p:nvPr>
            <p:ph type="pic" sz="quarter" idx="11" hasCustomPrompt="1"/>
          </p:nvPr>
        </p:nvSpPr>
        <p:spPr>
          <a:xfrm>
            <a:off x="-1" y="914401"/>
            <a:ext cx="12192001" cy="5179483"/>
          </a:xfrm>
          <a:solidFill>
            <a:srgbClr val="F1EFEF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6" name="Name Function 5"/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5257801"/>
            <a:ext cx="12192000" cy="836084"/>
          </a:xfrm>
          <a:solidFill>
            <a:schemeClr val="tx2">
              <a:alpha val="70000"/>
            </a:schemeClr>
          </a:solidFill>
        </p:spPr>
        <p:txBody>
          <a:bodyPr lIns="608400" rIns="608400" bIns="262800" anchor="b" anchorCtr="0"/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Name, Function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2" y="4932002"/>
            <a:ext cx="12192001" cy="325799"/>
          </a:xfrm>
          <a:solidFill>
            <a:schemeClr val="tx2">
              <a:alpha val="70000"/>
            </a:schemeClr>
          </a:solidFill>
        </p:spPr>
        <p:txBody>
          <a:bodyPr lIns="608400" rIns="608400"/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 dirty="0"/>
              <a:t>Subtitle of the presentation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00477"/>
            <a:ext cx="12192000" cy="1131524"/>
          </a:xfrm>
          <a:solidFill>
            <a:schemeClr val="tx2">
              <a:alpha val="70000"/>
            </a:schemeClr>
          </a:solidFill>
        </p:spPr>
        <p:txBody>
          <a:bodyPr lIns="612000" tIns="306000" rIns="612000" anchor="t"/>
          <a:lstStyle>
            <a:lvl1pPr algn="l">
              <a:lnSpc>
                <a:spcPts val="3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of the presentation over two lines</a:t>
            </a:r>
          </a:p>
        </p:txBody>
      </p:sp>
    </p:spTree>
    <p:extLst>
      <p:ext uri="{BB962C8B-B14F-4D97-AF65-F5344CB8AC3E}">
        <p14:creationId xmlns:p14="http://schemas.microsoft.com/office/powerpoint/2010/main" val="341713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9931"/>
            <a:ext cx="10985502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2324101"/>
          </a:xfrm>
          <a:prstGeom prst="rect">
            <a:avLst/>
          </a:prstGeom>
        </p:spPr>
        <p:txBody>
          <a:bodyPr anchor="b"/>
          <a:lstStyle>
            <a:lvl1pPr>
              <a:defRPr sz="5800" spc="-116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1" y="3611595"/>
            <a:ext cx="10985501" cy="952501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29070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E30B3-A232-0A3E-7BA9-4D7C204DC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E390D-B227-6B4D-457D-00B916D2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C88FA-F57A-EF59-458E-0099D7B6E9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755C9-78C9-CA49-B79B-4670AA60CCDF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ECA01-4CF0-21F5-D3EF-703E108C1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C158A-C5C0-C234-CCCF-B119B70C6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F0A8B-17BC-3448-AF3F-C2704C45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6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jpeg"/><Relationship Id="rId18" Type="http://schemas.openxmlformats.org/officeDocument/2006/relationships/image" Target="../media/image18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jpeg"/><Relationship Id="rId17" Type="http://schemas.openxmlformats.org/officeDocument/2006/relationships/image" Target="../media/image17.gif"/><Relationship Id="rId2" Type="http://schemas.openxmlformats.org/officeDocument/2006/relationships/image" Target="../media/image3.jpeg"/><Relationship Id="rId16" Type="http://schemas.microsoft.com/office/2007/relationships/hdphoto" Target="../media/hdphoto1.wd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5" Type="http://schemas.openxmlformats.org/officeDocument/2006/relationships/image" Target="../media/image16.pn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11" Type="http://schemas.openxmlformats.org/officeDocument/2006/relationships/image" Target="../media/image290.png"/><Relationship Id="rId5" Type="http://schemas.openxmlformats.org/officeDocument/2006/relationships/image" Target="../media/image21.jpeg"/><Relationship Id="rId15" Type="http://schemas.openxmlformats.org/officeDocument/2006/relationships/image" Target="../media/image27.png"/><Relationship Id="rId10" Type="http://schemas.openxmlformats.org/officeDocument/2006/relationships/image" Target="../media/image280.png"/><Relationship Id="rId4" Type="http://schemas.openxmlformats.org/officeDocument/2006/relationships/image" Target="../media/image20.png"/><Relationship Id="rId9" Type="http://schemas.openxmlformats.org/officeDocument/2006/relationships/image" Target="../media/image270.png"/><Relationship Id="rId1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gif"/><Relationship Id="rId3" Type="http://schemas.openxmlformats.org/officeDocument/2006/relationships/image" Target="../media/image35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11" Type="http://schemas.openxmlformats.org/officeDocument/2006/relationships/image" Target="../media/image18.svg"/><Relationship Id="rId5" Type="http://schemas.openxmlformats.org/officeDocument/2006/relationships/image" Target="../media/image36.emf"/><Relationship Id="rId10" Type="http://schemas.openxmlformats.org/officeDocument/2006/relationships/image" Target="../media/image17.gif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png"/><Relationship Id="rId11" Type="http://schemas.openxmlformats.org/officeDocument/2006/relationships/image" Target="../media/image52.tif"/><Relationship Id="rId5" Type="http://schemas.openxmlformats.org/officeDocument/2006/relationships/image" Target="../media/image46.jpe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t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hyperlink" Target="http://rxinfer.com/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13" Type="http://schemas.openxmlformats.org/officeDocument/2006/relationships/image" Target="../media/image65.png"/><Relationship Id="rId18" Type="http://schemas.openxmlformats.org/officeDocument/2006/relationships/image" Target="../media/image390.png"/><Relationship Id="rId26" Type="http://schemas.openxmlformats.org/officeDocument/2006/relationships/image" Target="../media/image69.png"/><Relationship Id="rId3" Type="http://schemas.openxmlformats.org/officeDocument/2006/relationships/image" Target="../media/image550.png"/><Relationship Id="rId21" Type="http://schemas.openxmlformats.org/officeDocument/2006/relationships/image" Target="../media/image420.png"/><Relationship Id="rId7" Type="http://schemas.openxmlformats.org/officeDocument/2006/relationships/image" Target="../media/image590.png"/><Relationship Id="rId12" Type="http://schemas.openxmlformats.org/officeDocument/2006/relationships/image" Target="../media/image64.png"/><Relationship Id="rId17" Type="http://schemas.openxmlformats.org/officeDocument/2006/relationships/image" Target="../media/image380.png"/><Relationship Id="rId25" Type="http://schemas.openxmlformats.org/officeDocument/2006/relationships/image" Target="../media/image46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8.png"/><Relationship Id="rId20" Type="http://schemas.openxmlformats.org/officeDocument/2006/relationships/image" Target="../media/image410.png"/><Relationship Id="rId29" Type="http://schemas.openxmlformats.org/officeDocument/2006/relationships/image" Target="../media/image6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0.png"/><Relationship Id="rId11" Type="http://schemas.openxmlformats.org/officeDocument/2006/relationships/image" Target="../media/image63.png"/><Relationship Id="rId24" Type="http://schemas.openxmlformats.org/officeDocument/2006/relationships/image" Target="../media/image450.png"/><Relationship Id="rId5" Type="http://schemas.openxmlformats.org/officeDocument/2006/relationships/image" Target="../media/image570.png"/><Relationship Id="rId15" Type="http://schemas.openxmlformats.org/officeDocument/2006/relationships/image" Target="../media/image67.png"/><Relationship Id="rId23" Type="http://schemas.openxmlformats.org/officeDocument/2006/relationships/image" Target="../media/image440.png"/><Relationship Id="rId28" Type="http://schemas.openxmlformats.org/officeDocument/2006/relationships/image" Target="../media/image59.emf"/><Relationship Id="rId10" Type="http://schemas.openxmlformats.org/officeDocument/2006/relationships/image" Target="../media/image62.png"/><Relationship Id="rId19" Type="http://schemas.openxmlformats.org/officeDocument/2006/relationships/image" Target="../media/image400.png"/><Relationship Id="rId4" Type="http://schemas.openxmlformats.org/officeDocument/2006/relationships/image" Target="../media/image560.png"/><Relationship Id="rId9" Type="http://schemas.openxmlformats.org/officeDocument/2006/relationships/image" Target="../media/image610.png"/><Relationship Id="rId14" Type="http://schemas.openxmlformats.org/officeDocument/2006/relationships/image" Target="../media/image66.png"/><Relationship Id="rId22" Type="http://schemas.openxmlformats.org/officeDocument/2006/relationships/image" Target="../media/image430.png"/><Relationship Id="rId27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gif"/><Relationship Id="rId5" Type="http://schemas.openxmlformats.org/officeDocument/2006/relationships/image" Target="../media/image63.gif"/><Relationship Id="rId4" Type="http://schemas.openxmlformats.org/officeDocument/2006/relationships/image" Target="../media/image62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../media/image86.png"/><Relationship Id="rId3" Type="http://schemas.openxmlformats.org/officeDocument/2006/relationships/image" Target="../media/image78.png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../media/image85.png"/><Relationship Id="rId2" Type="http://schemas.openxmlformats.org/officeDocument/2006/relationships/image" Target="../media/image77.png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1.png"/><Relationship Id="rId11" Type="http://schemas.openxmlformats.org/officeDocument/2006/relationships/image" Target="NULL"/><Relationship Id="rId24" Type="http://schemas.openxmlformats.org/officeDocument/2006/relationships/image" Target="../media/image72.png"/><Relationship Id="rId5" Type="http://schemas.openxmlformats.org/officeDocument/2006/relationships/image" Target="../media/image80.png"/><Relationship Id="rId15" Type="http://schemas.openxmlformats.org/officeDocument/2006/relationships/image" Target="NULL"/><Relationship Id="rId23" Type="http://schemas.openxmlformats.org/officeDocument/2006/relationships/image" Target="../media/image83.png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../media/image79.png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6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../media/image88.png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../media/image7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hyperlink" Target="https://arxiv.org/pdf/2504.14898" TargetMode="Externa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../media/image74.png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6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../media/image84.png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../media/image7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7.png"/><Relationship Id="rId5" Type="http://schemas.openxmlformats.org/officeDocument/2006/relationships/image" Target="../media/image76.png"/><Relationship Id="rId4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table, room, sitting, large&#10;&#10;Description automatically generated">
            <a:extLst>
              <a:ext uri="{FF2B5EF4-FFF2-40B4-BE49-F238E27FC236}">
                <a16:creationId xmlns:a16="http://schemas.microsoft.com/office/drawing/2014/main" id="{05144C20-0DC1-C645-9C4A-7F24D582C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03" y="774904"/>
            <a:ext cx="12233605" cy="6115273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ctrTitle"/>
          </p:nvPr>
        </p:nvSpPr>
        <p:spPr>
          <a:xfrm>
            <a:off x="-41605" y="1155560"/>
            <a:ext cx="12233605" cy="2753249"/>
          </a:xfr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tx1"/>
                </a:solidFill>
              </a:rPr>
              <a:t>Active Inference and the Free Energy Principle</a:t>
            </a:r>
            <a:br>
              <a:rPr lang="en-US" sz="4400" dirty="0">
                <a:solidFill>
                  <a:schemeClr val="tx1"/>
                </a:solidFill>
              </a:rPr>
            </a:br>
            <a:br>
              <a:rPr lang="en-US" sz="31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Bert de Vries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1867" dirty="0">
                <a:solidFill>
                  <a:schemeClr val="tx1"/>
                </a:solidFill>
              </a:rPr>
              <a:t>Eindhoven University of Technology</a:t>
            </a:r>
            <a:br>
              <a:rPr lang="en-US" sz="1867" dirty="0">
                <a:solidFill>
                  <a:schemeClr val="tx1"/>
                </a:solidFill>
              </a:rPr>
            </a:br>
            <a:br>
              <a:rPr lang="en-US" sz="1867" dirty="0">
                <a:solidFill>
                  <a:schemeClr val="tx1"/>
                </a:solidFill>
              </a:rPr>
            </a:br>
            <a:r>
              <a:rPr lang="en-US" sz="1867" dirty="0">
                <a:solidFill>
                  <a:schemeClr val="tx1"/>
                </a:solidFill>
              </a:rPr>
              <a:t>Nov 2026</a:t>
            </a:r>
            <a:endParaRPr lang="nl-NL" sz="4267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50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95AA15-F091-B941-5739-E55B0D0F0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45377" y="8052522"/>
            <a:ext cx="2743200" cy="365125"/>
          </a:xfrm>
        </p:spPr>
        <p:txBody>
          <a:bodyPr/>
          <a:lstStyle/>
          <a:p>
            <a:fld id="{179F0A8B-17BC-3448-AF3F-C2704C45AA7C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Tech United becomes robot soccer world champion in Eindhoven">
            <a:extLst>
              <a:ext uri="{FF2B5EF4-FFF2-40B4-BE49-F238E27FC236}">
                <a16:creationId xmlns:a16="http://schemas.microsoft.com/office/drawing/2014/main" id="{E20D8A94-ACFB-828F-D13D-1BA48B392B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9" r="44595"/>
          <a:stretch>
            <a:fillRect/>
          </a:stretch>
        </p:blipFill>
        <p:spPr bwMode="auto">
          <a:xfrm>
            <a:off x="511505" y="0"/>
            <a:ext cx="528917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09363082-0995-071A-F142-C602E0205EC8}"/>
              </a:ext>
            </a:extLst>
          </p:cNvPr>
          <p:cNvGrpSpPr/>
          <p:nvPr/>
        </p:nvGrpSpPr>
        <p:grpSpPr>
          <a:xfrm>
            <a:off x="282325" y="4312666"/>
            <a:ext cx="5587276" cy="2409298"/>
            <a:chOff x="354041" y="4312666"/>
            <a:chExt cx="5587276" cy="240929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8B70693-DB20-CBB9-D8BE-7E01D8FCDC2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560036" y="4864939"/>
              <a:ext cx="1381281" cy="1828800"/>
              <a:chOff x="2661185" y="3627016"/>
              <a:chExt cx="1797156" cy="2379414"/>
            </a:xfrm>
          </p:grpSpPr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3F89111-2A95-1231-B7DC-66669E74F4D5}"/>
                  </a:ext>
                </a:extLst>
              </p:cNvPr>
              <p:cNvSpPr/>
              <p:nvPr/>
            </p:nvSpPr>
            <p:spPr>
              <a:xfrm>
                <a:off x="2661185" y="3627016"/>
                <a:ext cx="1797156" cy="237941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>
                  <a:solidFill>
                    <a:srgbClr val="165798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9F4620-92A4-6DC7-C8C6-CA75A8089EED}"/>
                  </a:ext>
                </a:extLst>
              </p:cNvPr>
              <p:cNvSpPr txBox="1"/>
              <p:nvPr/>
            </p:nvSpPr>
            <p:spPr>
              <a:xfrm>
                <a:off x="2741909" y="3717085"/>
                <a:ext cx="1643063" cy="360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rgbClr val="165798"/>
                    </a:solidFill>
                  </a:rPr>
                  <a:t>Communication</a:t>
                </a:r>
                <a:endParaRPr lang="en-NL" sz="1200">
                  <a:solidFill>
                    <a:srgbClr val="165798"/>
                  </a:solidFill>
                </a:endParaRPr>
              </a:p>
            </p:txBody>
          </p:sp>
          <p:pic>
            <p:nvPicPr>
              <p:cNvPr id="8" name="Picture 7" descr="A black text on a white background&#10;&#10;Description automatically generated">
                <a:extLst>
                  <a:ext uri="{FF2B5EF4-FFF2-40B4-BE49-F238E27FC236}">
                    <a16:creationId xmlns:a16="http://schemas.microsoft.com/office/drawing/2014/main" id="{ADFB5D88-BF32-4DD7-E22E-1842E69D6F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6803" r="4676" b="31606"/>
              <a:stretch/>
            </p:blipFill>
            <p:spPr>
              <a:xfrm>
                <a:off x="2811695" y="4088365"/>
                <a:ext cx="1503489" cy="351726"/>
              </a:xfrm>
              <a:prstGeom prst="rect">
                <a:avLst/>
              </a:prstGeom>
            </p:spPr>
          </p:pic>
          <p:pic>
            <p:nvPicPr>
              <p:cNvPr id="9" name="Picture 8" descr="A person in a suit and tie&#10;&#10;Description automatically generated">
                <a:extLst>
                  <a:ext uri="{FF2B5EF4-FFF2-40B4-BE49-F238E27FC236}">
                    <a16:creationId xmlns:a16="http://schemas.microsoft.com/office/drawing/2014/main" id="{D468A761-7D99-D2B8-0C17-DEC647AF24B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7678" r="13751" b="32304"/>
              <a:stretch/>
            </p:blipFill>
            <p:spPr>
              <a:xfrm>
                <a:off x="3139268" y="4561378"/>
                <a:ext cx="848342" cy="1046887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0C7745-A0E6-BEA3-F6A4-98A22A0DEAD6}"/>
                  </a:ext>
                </a:extLst>
              </p:cNvPr>
              <p:cNvSpPr txBox="1"/>
              <p:nvPr/>
            </p:nvSpPr>
            <p:spPr>
              <a:xfrm>
                <a:off x="2705789" y="5625211"/>
                <a:ext cx="1697181" cy="360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NL" sz="1200">
                    <a:solidFill>
                      <a:srgbClr val="165798"/>
                    </a:solidFill>
                  </a:rPr>
                  <a:t>Claude Shannon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D9C0981-75FD-6B7F-E1AD-96F0AC4737A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27754" y="4333628"/>
              <a:ext cx="1436557" cy="1828800"/>
              <a:chOff x="4787030" y="3627016"/>
              <a:chExt cx="1869076" cy="2379414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CAA923CA-896A-DEE8-B7A7-C88E115315BD}"/>
                  </a:ext>
                </a:extLst>
              </p:cNvPr>
              <p:cNvSpPr/>
              <p:nvPr/>
            </p:nvSpPr>
            <p:spPr>
              <a:xfrm>
                <a:off x="4803400" y="3627016"/>
                <a:ext cx="1797156" cy="237941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>
                  <a:solidFill>
                    <a:srgbClr val="165798"/>
                  </a:solidFill>
                </a:endParaRPr>
              </a:p>
            </p:txBody>
          </p:sp>
          <p:pic>
            <p:nvPicPr>
              <p:cNvPr id="13" name="Picture 12" descr="A diagram of a mathematical equation&#10;&#10;Description automatically generated with medium confidence">
                <a:extLst>
                  <a:ext uri="{FF2B5EF4-FFF2-40B4-BE49-F238E27FC236}">
                    <a16:creationId xmlns:a16="http://schemas.microsoft.com/office/drawing/2014/main" id="{72A68060-8A97-3B4A-E94D-B9448C5EAB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61435" t="51780" r="3831" b="40169"/>
              <a:stretch/>
            </p:blipFill>
            <p:spPr>
              <a:xfrm>
                <a:off x="4962136" y="4137835"/>
                <a:ext cx="1479681" cy="257214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236185-5811-73BA-3D74-70269D7E04AD}"/>
                  </a:ext>
                </a:extLst>
              </p:cNvPr>
              <p:cNvSpPr txBox="1"/>
              <p:nvPr/>
            </p:nvSpPr>
            <p:spPr>
              <a:xfrm>
                <a:off x="4935814" y="3722165"/>
                <a:ext cx="1514839" cy="360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rgbClr val="165798"/>
                    </a:solidFill>
                  </a:rPr>
                  <a:t>Control Theory</a:t>
                </a:r>
                <a:endParaRPr lang="en-NL" sz="1200">
                  <a:solidFill>
                    <a:srgbClr val="165798"/>
                  </a:solidFill>
                </a:endParaRPr>
              </a:p>
            </p:txBody>
          </p:sp>
          <p:pic>
            <p:nvPicPr>
              <p:cNvPr id="15" name="Picture 2" descr="Rudolf E. Kalman - IEEE Awards">
                <a:extLst>
                  <a:ext uri="{FF2B5EF4-FFF2-40B4-BE49-F238E27FC236}">
                    <a16:creationId xmlns:a16="http://schemas.microsoft.com/office/drawing/2014/main" id="{266EC394-1B94-3F15-CBF2-829B581515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73" r="7615" b="24002"/>
              <a:stretch/>
            </p:blipFill>
            <p:spPr bwMode="auto">
              <a:xfrm>
                <a:off x="5305624" y="4564972"/>
                <a:ext cx="792707" cy="10343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8A2D97-1828-D940-8B74-1450C8313171}"/>
                  </a:ext>
                </a:extLst>
              </p:cNvPr>
              <p:cNvSpPr txBox="1"/>
              <p:nvPr/>
            </p:nvSpPr>
            <p:spPr>
              <a:xfrm>
                <a:off x="4787030" y="5625211"/>
                <a:ext cx="1869076" cy="360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NL" sz="1200">
                    <a:solidFill>
                      <a:srgbClr val="165798"/>
                    </a:solidFill>
                  </a:rPr>
                  <a:t>Rudolf Kalman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2070F04-4086-E682-AE0D-62E1CD5DD13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586159" y="4312666"/>
              <a:ext cx="1436557" cy="1828800"/>
              <a:chOff x="6945615" y="3627016"/>
              <a:chExt cx="1869076" cy="2379414"/>
            </a:xfrm>
          </p:grpSpPr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A0EA8A3-87A9-4D0E-5781-D9BEEED87821}"/>
                  </a:ext>
                </a:extLst>
              </p:cNvPr>
              <p:cNvSpPr/>
              <p:nvPr/>
            </p:nvSpPr>
            <p:spPr>
              <a:xfrm>
                <a:off x="6945615" y="3627016"/>
                <a:ext cx="1797156" cy="237941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>
                  <a:solidFill>
                    <a:srgbClr val="165798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AB6940-FEC6-FD31-89B4-96F0EA18FAE8}"/>
                  </a:ext>
                </a:extLst>
              </p:cNvPr>
              <p:cNvSpPr txBox="1"/>
              <p:nvPr/>
            </p:nvSpPr>
            <p:spPr>
              <a:xfrm>
                <a:off x="7362972" y="3717085"/>
                <a:ext cx="1009866" cy="360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rgbClr val="165798"/>
                    </a:solidFill>
                  </a:rPr>
                  <a:t>Robotics</a:t>
                </a:r>
                <a:endParaRPr lang="en-NL" sz="1200">
                  <a:solidFill>
                    <a:srgbClr val="165798"/>
                  </a:solidFill>
                </a:endParaRPr>
              </a:p>
            </p:txBody>
          </p:sp>
          <p:pic>
            <p:nvPicPr>
              <p:cNvPr id="20" name="Picture 4" descr="The Bellman Equation: Decoding Optimal Paths with State, Action, Reward,  and Discount | by Navneet Singh | Medium">
                <a:extLst>
                  <a:ext uri="{FF2B5EF4-FFF2-40B4-BE49-F238E27FC236}">
                    <a16:creationId xmlns:a16="http://schemas.microsoft.com/office/drawing/2014/main" id="{B568B14E-6A2B-5BBC-488A-3CF30551E3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26" t="27804" r="11013" b="32442"/>
              <a:stretch/>
            </p:blipFill>
            <p:spPr bwMode="auto">
              <a:xfrm>
                <a:off x="7099081" y="4145708"/>
                <a:ext cx="1537645" cy="2493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6" descr="Bellman Prize">
                <a:extLst>
                  <a:ext uri="{FF2B5EF4-FFF2-40B4-BE49-F238E27FC236}">
                    <a16:creationId xmlns:a16="http://schemas.microsoft.com/office/drawing/2014/main" id="{47439C26-F585-7AD2-B31F-A4D26BA69A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607" t="2141" r="9116" b="19900"/>
              <a:stretch/>
            </p:blipFill>
            <p:spPr bwMode="auto">
              <a:xfrm>
                <a:off x="7478187" y="4548426"/>
                <a:ext cx="779432" cy="10468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E13CFE-8903-C7FB-FFF2-5CC02B61F051}"/>
                  </a:ext>
                </a:extLst>
              </p:cNvPr>
              <p:cNvSpPr txBox="1"/>
              <p:nvPr/>
            </p:nvSpPr>
            <p:spPr>
              <a:xfrm>
                <a:off x="6945615" y="5625211"/>
                <a:ext cx="1869076" cy="360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NL" sz="1200">
                    <a:solidFill>
                      <a:srgbClr val="165798"/>
                    </a:solidFill>
                  </a:rPr>
                  <a:t>Richard Bellman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3F69DE7-8960-BC7B-A6D0-FFC137C64A8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51714" y="4893164"/>
              <a:ext cx="1436557" cy="1828800"/>
              <a:chOff x="9977248" y="3627016"/>
              <a:chExt cx="1869076" cy="2379414"/>
            </a:xfrm>
          </p:grpSpPr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0B60942-BEC2-ABF6-EE78-22CDD50DE1D6}"/>
                  </a:ext>
                </a:extLst>
              </p:cNvPr>
              <p:cNvSpPr/>
              <p:nvPr/>
            </p:nvSpPr>
            <p:spPr>
              <a:xfrm>
                <a:off x="10013208" y="3627016"/>
                <a:ext cx="1797156" cy="237941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>
                  <a:solidFill>
                    <a:srgbClr val="165798"/>
                  </a:solidFill>
                </a:endParaRPr>
              </a:p>
            </p:txBody>
          </p:sp>
          <p:pic>
            <p:nvPicPr>
              <p:cNvPr id="25" name="Picture 10" descr="The Chain Rule of Calculus for Univariate and Multivariate Functions -  MachineLearningMastery.com">
                <a:extLst>
                  <a:ext uri="{FF2B5EF4-FFF2-40B4-BE49-F238E27FC236}">
                    <a16:creationId xmlns:a16="http://schemas.microsoft.com/office/drawing/2014/main" id="{B5B7165B-C835-2362-8C40-C1808C3F2B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53178" y="4015894"/>
                <a:ext cx="1203383" cy="4800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12" descr="4. GEOFFREY HINTON - Architects of Intelligence [Book]">
                <a:extLst>
                  <a:ext uri="{FF2B5EF4-FFF2-40B4-BE49-F238E27FC236}">
                    <a16:creationId xmlns:a16="http://schemas.microsoft.com/office/drawing/2014/main" id="{B88C5917-74EC-A678-780C-1DC30F4717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60" b="16000"/>
              <a:stretch/>
            </p:blipFill>
            <p:spPr bwMode="auto">
              <a:xfrm>
                <a:off x="10562103" y="4561378"/>
                <a:ext cx="785535" cy="10468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F4A9EB-CD7E-C663-477A-E1D30FE65BFB}"/>
                  </a:ext>
                </a:extLst>
              </p:cNvPr>
              <p:cNvSpPr txBox="1"/>
              <p:nvPr/>
            </p:nvSpPr>
            <p:spPr>
              <a:xfrm>
                <a:off x="10068015" y="3713147"/>
                <a:ext cx="1773708" cy="360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rgbClr val="165798"/>
                    </a:solidFill>
                  </a:rPr>
                  <a:t>Machine Learning</a:t>
                </a:r>
                <a:endParaRPr lang="en-NL" sz="1200">
                  <a:solidFill>
                    <a:srgbClr val="165798"/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FE4D02A-DC85-E6DD-F630-F099597B1939}"/>
                  </a:ext>
                </a:extLst>
              </p:cNvPr>
              <p:cNvSpPr txBox="1"/>
              <p:nvPr/>
            </p:nvSpPr>
            <p:spPr>
              <a:xfrm>
                <a:off x="9977248" y="5625211"/>
                <a:ext cx="1869076" cy="360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NL" sz="1200">
                    <a:solidFill>
                      <a:srgbClr val="165798"/>
                    </a:solidFill>
                  </a:rPr>
                  <a:t>Geoffrey Hinton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EAFA1C6-5639-E7AF-CB8B-8577A8B6BB4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54041" y="4838335"/>
              <a:ext cx="1647077" cy="1828800"/>
              <a:chOff x="345675" y="3627016"/>
              <a:chExt cx="2142980" cy="2379414"/>
            </a:xfrm>
          </p:grpSpPr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77F22532-D8D1-F62B-2BF4-30E334F99E7F}"/>
                  </a:ext>
                </a:extLst>
              </p:cNvPr>
              <p:cNvSpPr/>
              <p:nvPr/>
            </p:nvSpPr>
            <p:spPr>
              <a:xfrm>
                <a:off x="518970" y="3627016"/>
                <a:ext cx="1797156" cy="237941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>
                  <a:solidFill>
                    <a:srgbClr val="165798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FAAB9B8-5DA3-1DA6-8343-6D0CB3138C84}"/>
                  </a:ext>
                </a:extLst>
              </p:cNvPr>
              <p:cNvSpPr txBox="1"/>
              <p:nvPr/>
            </p:nvSpPr>
            <p:spPr>
              <a:xfrm>
                <a:off x="537069" y="3717085"/>
                <a:ext cx="1760194" cy="360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rgbClr val="165798"/>
                    </a:solidFill>
                  </a:rPr>
                  <a:t>Signal Processing</a:t>
                </a:r>
                <a:endParaRPr lang="en-NL" sz="1200">
                  <a:solidFill>
                    <a:srgbClr val="165798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72C0BB7-8647-3E98-DD9F-36D1486BF75D}"/>
                  </a:ext>
                </a:extLst>
              </p:cNvPr>
              <p:cNvSpPr txBox="1"/>
              <p:nvPr/>
            </p:nvSpPr>
            <p:spPr>
              <a:xfrm>
                <a:off x="345675" y="5625211"/>
                <a:ext cx="2142980" cy="360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NL" sz="1200">
                    <a:solidFill>
                      <a:srgbClr val="165798"/>
                    </a:solidFill>
                  </a:rPr>
                  <a:t>Joseph Fourier</a:t>
                </a:r>
              </a:p>
            </p:txBody>
          </p:sp>
          <p:pic>
            <p:nvPicPr>
              <p:cNvPr id="33" name="Picture 32" descr="A black math equation&#10;&#10;Description automatically generated with medium confidence">
                <a:extLst>
                  <a:ext uri="{FF2B5EF4-FFF2-40B4-BE49-F238E27FC236}">
                    <a16:creationId xmlns:a16="http://schemas.microsoft.com/office/drawing/2014/main" id="{E3D3525A-90CA-1E55-6445-D222D567F7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66" y="4106121"/>
                <a:ext cx="1346200" cy="374650"/>
              </a:xfrm>
              <a:prstGeom prst="rect">
                <a:avLst/>
              </a:prstGeom>
            </p:spPr>
          </p:pic>
          <p:pic>
            <p:nvPicPr>
              <p:cNvPr id="34" name="Picture 8" descr="Jos. Fourier">
                <a:extLst>
                  <a:ext uri="{FF2B5EF4-FFF2-40B4-BE49-F238E27FC236}">
                    <a16:creationId xmlns:a16="http://schemas.microsoft.com/office/drawing/2014/main" id="{757C969F-34BA-A423-CEF6-EFC545E719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86" t="738" r="18610" b="30912"/>
              <a:stretch/>
            </p:blipFill>
            <p:spPr bwMode="auto">
              <a:xfrm>
                <a:off x="958570" y="4561378"/>
                <a:ext cx="917191" cy="10468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7B685D4-3D9D-965B-6DC7-B80E1359D864}"/>
              </a:ext>
            </a:extLst>
          </p:cNvPr>
          <p:cNvGrpSpPr/>
          <p:nvPr/>
        </p:nvGrpSpPr>
        <p:grpSpPr>
          <a:xfrm>
            <a:off x="6624401" y="0"/>
            <a:ext cx="5056094" cy="6858000"/>
            <a:chOff x="6624401" y="0"/>
            <a:chExt cx="5056094" cy="6858000"/>
          </a:xfrm>
        </p:grpSpPr>
        <p:pic>
          <p:nvPicPr>
            <p:cNvPr id="1028" name="Picture 4" descr="Kylian Mbappe | Biography &amp; Facts | Britannica">
              <a:extLst>
                <a:ext uri="{FF2B5EF4-FFF2-40B4-BE49-F238E27FC236}">
                  <a16:creationId xmlns:a16="http://schemas.microsoft.com/office/drawing/2014/main" id="{AE2BDF39-55C8-605C-04C6-2D7B335676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15" r="20086"/>
            <a:stretch>
              <a:fillRect/>
            </a:stretch>
          </p:blipFill>
          <p:spPr bwMode="auto">
            <a:xfrm>
              <a:off x="6624401" y="0"/>
              <a:ext cx="5056094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FEEF65C-BA2C-B341-BC6E-CFC3A7DEDE60}"/>
                </a:ext>
              </a:extLst>
            </p:cNvPr>
            <p:cNvGrpSpPr/>
            <p:nvPr/>
          </p:nvGrpSpPr>
          <p:grpSpPr>
            <a:xfrm>
              <a:off x="9152131" y="735523"/>
              <a:ext cx="1381279" cy="1828800"/>
              <a:chOff x="4941429" y="3847698"/>
              <a:chExt cx="1381279" cy="1828800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DDAB6497-60DA-3942-BF6D-66C3E40C9DE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941429" y="3847698"/>
                <a:ext cx="1381279" cy="1828800"/>
                <a:chOff x="518970" y="3627016"/>
                <a:chExt cx="1797156" cy="2379414"/>
              </a:xfrm>
            </p:grpSpPr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D9EC7ED6-A871-1BD6-11EA-FFE12F01964A}"/>
                    </a:ext>
                  </a:extLst>
                </p:cNvPr>
                <p:cNvSpPr/>
                <p:nvPr/>
              </p:nvSpPr>
              <p:spPr>
                <a:xfrm>
                  <a:off x="518970" y="3627016"/>
                  <a:ext cx="1797156" cy="2379414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>
                    <a:solidFill>
                      <a:srgbClr val="165798"/>
                    </a:solidFill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FE86935-B9CC-7B02-C3D7-599DDAB2FA90}"/>
                    </a:ext>
                  </a:extLst>
                </p:cNvPr>
                <p:cNvSpPr txBox="1"/>
                <p:nvPr/>
              </p:nvSpPr>
              <p:spPr>
                <a:xfrm>
                  <a:off x="966003" y="3717085"/>
                  <a:ext cx="902331" cy="3603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>
                      <a:solidFill>
                        <a:srgbClr val="165798"/>
                      </a:solidFill>
                    </a:rPr>
                    <a:t>Physics</a:t>
                  </a:r>
                  <a:endParaRPr lang="en-NL" sz="1200">
                    <a:solidFill>
                      <a:srgbClr val="165798"/>
                    </a:solidFill>
                  </a:endParaRPr>
                </a:p>
              </p:txBody>
            </p:sp>
          </p:grpSp>
          <p:pic>
            <p:nvPicPr>
              <p:cNvPr id="39" name="Picture 38" descr="Interactive Brain - How Injury Can Affect the Brain | BrainLine">
                <a:extLst>
                  <a:ext uri="{FF2B5EF4-FFF2-40B4-BE49-F238E27FC236}">
                    <a16:creationId xmlns:a16="http://schemas.microsoft.com/office/drawing/2014/main" id="{A2B28330-F312-007D-4B5D-BB360D8241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7452" y="4417750"/>
                <a:ext cx="1215860" cy="934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60F776C-75E8-F094-5C6C-2BB0B3241AC7}"/>
              </a:ext>
            </a:extLst>
          </p:cNvPr>
          <p:cNvGrpSpPr/>
          <p:nvPr/>
        </p:nvGrpSpPr>
        <p:grpSpPr>
          <a:xfrm>
            <a:off x="1279824" y="749778"/>
            <a:ext cx="7836351" cy="6572809"/>
            <a:chOff x="1279824" y="749778"/>
            <a:chExt cx="7836351" cy="6572809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9F953BC-68B6-6BA2-6A73-6DF9F0842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sharpenSoften amount="4000"/>
                      </a14:imgEffect>
                      <a14:imgEffect>
                        <a14:colorTemperature colorTemp="4277"/>
                      </a14:imgEffect>
                      <a14:imgEffect>
                        <a14:saturation sat="239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79824" y="3657137"/>
              <a:ext cx="3665450" cy="3665450"/>
            </a:xfrm>
            <a:prstGeom prst="rect">
              <a:avLst/>
            </a:prstGeom>
          </p:spPr>
        </p:pic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1825DCB-B3D6-1909-6B3F-B27E9D2DABF7}"/>
                </a:ext>
              </a:extLst>
            </p:cNvPr>
            <p:cNvGrpSpPr/>
            <p:nvPr/>
          </p:nvGrpSpPr>
          <p:grpSpPr>
            <a:xfrm>
              <a:off x="2594555" y="749778"/>
              <a:ext cx="6521620" cy="1828800"/>
              <a:chOff x="2594555" y="749778"/>
              <a:chExt cx="6521620" cy="182880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08CD6F8-EF11-699D-721A-EC41CE62DFA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594555" y="749778"/>
                <a:ext cx="1381279" cy="1828800"/>
                <a:chOff x="518970" y="3627016"/>
                <a:chExt cx="1797156" cy="2379414"/>
              </a:xfrm>
            </p:grpSpPr>
            <p:sp>
              <p:nvSpPr>
                <p:cNvPr id="43" name="Rounded Rectangle 42">
                  <a:extLst>
                    <a:ext uri="{FF2B5EF4-FFF2-40B4-BE49-F238E27FC236}">
                      <a16:creationId xmlns:a16="http://schemas.microsoft.com/office/drawing/2014/main" id="{E8790084-FDF5-DD24-4B37-3CFBABAFA360}"/>
                    </a:ext>
                  </a:extLst>
                </p:cNvPr>
                <p:cNvSpPr/>
                <p:nvPr/>
              </p:nvSpPr>
              <p:spPr>
                <a:xfrm>
                  <a:off x="518970" y="3627016"/>
                  <a:ext cx="1797156" cy="2379414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165798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>
                    <a:solidFill>
                      <a:srgbClr val="165798"/>
                    </a:solidFill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04A2FB2-8C2C-5CB4-674F-0A326E6A18F0}"/>
                    </a:ext>
                  </a:extLst>
                </p:cNvPr>
                <p:cNvSpPr txBox="1"/>
                <p:nvPr/>
              </p:nvSpPr>
              <p:spPr>
                <a:xfrm>
                  <a:off x="855216" y="3717085"/>
                  <a:ext cx="1123908" cy="6006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>
                      <a:solidFill>
                        <a:srgbClr val="165798"/>
                      </a:solidFill>
                    </a:rPr>
                    <a:t>Simulated</a:t>
                  </a:r>
                </a:p>
                <a:p>
                  <a:pPr algn="ctr"/>
                  <a:r>
                    <a:rPr lang="en-US" sz="1200">
                      <a:solidFill>
                        <a:srgbClr val="165798"/>
                      </a:solidFill>
                    </a:rPr>
                    <a:t>Physics</a:t>
                  </a:r>
                  <a:endParaRPr lang="en-NL" sz="1200">
                    <a:solidFill>
                      <a:srgbClr val="165798"/>
                    </a:solidFill>
                  </a:endParaRPr>
                </a:p>
              </p:txBody>
            </p:sp>
          </p:grp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125F3FCF-5FFE-7029-7E12-BAB592A488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72655" y="1634608"/>
                <a:ext cx="514352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A14A8B8-A972-EBF8-8FFA-4BD4B217906C}"/>
                  </a:ext>
                </a:extLst>
              </p:cNvPr>
              <p:cNvSpPr txBox="1"/>
              <p:nvPr/>
            </p:nvSpPr>
            <p:spPr>
              <a:xfrm flipH="1">
                <a:off x="5999332" y="1049836"/>
                <a:ext cx="4154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rgbClr val="165798"/>
                    </a:solidFill>
                  </a:rPr>
                  <a:t>?</a:t>
                </a:r>
              </a:p>
            </p:txBody>
          </p:sp>
          <p:pic>
            <p:nvPicPr>
              <p:cNvPr id="48" name="Picture 47" descr="A colorful lines on a white background&#10;&#10;AI-generated content may be incorrect.">
                <a:extLst>
                  <a:ext uri="{FF2B5EF4-FFF2-40B4-BE49-F238E27FC236}">
                    <a16:creationId xmlns:a16="http://schemas.microsoft.com/office/drawing/2014/main" id="{8D898C80-7CE4-2642-E595-91BA239A7B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alphaModFix amt="97000"/>
              </a:blip>
              <a:srcRect l="6237" t="5811" r="8750" b="-1"/>
              <a:stretch>
                <a:fillRect/>
              </a:stretch>
            </p:blipFill>
            <p:spPr>
              <a:xfrm>
                <a:off x="2735599" y="1253843"/>
                <a:ext cx="1110429" cy="1230314"/>
              </a:xfrm>
              <a:prstGeom prst="rect">
                <a:avLst/>
              </a:prstGeom>
            </p:spPr>
          </p:pic>
          <p:pic>
            <p:nvPicPr>
              <p:cNvPr id="49" name="Graphic 48">
                <a:extLst>
                  <a:ext uri="{FF2B5EF4-FFF2-40B4-BE49-F238E27FC236}">
                    <a16:creationId xmlns:a16="http://schemas.microsoft.com/office/drawing/2014/main" id="{37BB486E-D59B-C049-813E-E4CFAFB63F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2839023" y="1634608"/>
                <a:ext cx="863826" cy="28554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2921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9014A-6925-5AD2-B744-18108303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1563" y="6356350"/>
            <a:ext cx="344905" cy="365125"/>
          </a:xfrm>
        </p:spPr>
        <p:txBody>
          <a:bodyPr/>
          <a:lstStyle/>
          <a:p>
            <a:fld id="{EFD68D12-B089-A94E-A9BA-DBFEDD5ACBF6}" type="slidenum">
              <a:rPr lang="en-NL" smtClean="0"/>
              <a:t>3</a:t>
            </a:fld>
            <a:endParaRPr lang="en-NL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B91826-A77B-272A-7D7A-FE0AB84EC761}"/>
              </a:ext>
            </a:extLst>
          </p:cNvPr>
          <p:cNvGrpSpPr/>
          <p:nvPr/>
        </p:nvGrpSpPr>
        <p:grpSpPr>
          <a:xfrm>
            <a:off x="4456090" y="1342646"/>
            <a:ext cx="2846232" cy="765192"/>
            <a:chOff x="2381651" y="1179518"/>
            <a:chExt cx="2846232" cy="765192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A0C288B-FA98-874D-8C1F-EBFCD039F5F1}"/>
                </a:ext>
              </a:extLst>
            </p:cNvPr>
            <p:cNvSpPr/>
            <p:nvPr/>
          </p:nvSpPr>
          <p:spPr>
            <a:xfrm>
              <a:off x="2381651" y="1179518"/>
              <a:ext cx="2846232" cy="765192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88F142C-1C0B-C994-D265-0504E6D33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3560" y="1225800"/>
              <a:ext cx="2108712" cy="677498"/>
            </a:xfrm>
            <a:prstGeom prst="rect">
              <a:avLst/>
            </a:prstGeom>
          </p:spPr>
        </p:pic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712DE7-BA67-C9DB-09F3-E6BA6EB442E6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flipH="1">
            <a:off x="1692634" y="2107838"/>
            <a:ext cx="4186572" cy="54198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08C1296-089C-AB7B-7066-D13C2DB58975}"/>
              </a:ext>
            </a:extLst>
          </p:cNvPr>
          <p:cNvGrpSpPr/>
          <p:nvPr/>
        </p:nvGrpSpPr>
        <p:grpSpPr>
          <a:xfrm>
            <a:off x="3190974" y="2107838"/>
            <a:ext cx="2688232" cy="4539890"/>
            <a:chOff x="3190974" y="1803044"/>
            <a:chExt cx="2688232" cy="453989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B2C6628-20F2-C6F3-8B8D-FC10E52BF29A}"/>
                </a:ext>
              </a:extLst>
            </p:cNvPr>
            <p:cNvCxnSpPr>
              <a:cxnSpLocks/>
              <a:stCxn id="5" idx="2"/>
              <a:endCxn id="14" idx="0"/>
            </p:cNvCxnSpPr>
            <p:nvPr/>
          </p:nvCxnSpPr>
          <p:spPr>
            <a:xfrm flipH="1">
              <a:off x="4447603" y="1803044"/>
              <a:ext cx="1431603" cy="55539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82C0474-1882-3D11-F11E-2CECF9BEA50C}"/>
                </a:ext>
              </a:extLst>
            </p:cNvPr>
            <p:cNvGrpSpPr/>
            <p:nvPr/>
          </p:nvGrpSpPr>
          <p:grpSpPr>
            <a:xfrm>
              <a:off x="3190974" y="2358442"/>
              <a:ext cx="2584872" cy="3984492"/>
              <a:chOff x="3160870" y="2371858"/>
              <a:chExt cx="2584872" cy="3984492"/>
            </a:xfrm>
          </p:grpSpPr>
          <p:pic>
            <p:nvPicPr>
              <p:cNvPr id="3074" name="Picture 2" descr="Schrödinger's Equation. “So do any of you guys know quantum… | by Panda the  Red | Cantor's Paradise">
                <a:extLst>
                  <a:ext uri="{FF2B5EF4-FFF2-40B4-BE49-F238E27FC236}">
                    <a16:creationId xmlns:a16="http://schemas.microsoft.com/office/drawing/2014/main" id="{C394F30B-121E-272A-3CB7-327F3FBC93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64016" y="3507350"/>
                <a:ext cx="2581726" cy="11428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7792AC2-658A-03FA-584C-B5192D1D7111}"/>
                  </a:ext>
                </a:extLst>
              </p:cNvPr>
              <p:cNvSpPr/>
              <p:nvPr/>
            </p:nvSpPr>
            <p:spPr>
              <a:xfrm>
                <a:off x="3160870" y="2371858"/>
                <a:ext cx="2513258" cy="3984492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3D2014A-9A97-DC41-2E8B-8DB92645DFF1}"/>
                  </a:ext>
                </a:extLst>
              </p:cNvPr>
              <p:cNvSpPr txBox="1"/>
              <p:nvPr/>
            </p:nvSpPr>
            <p:spPr>
              <a:xfrm>
                <a:off x="3227203" y="2462820"/>
                <a:ext cx="2455352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/>
                  <a:t>M</a:t>
                </a:r>
                <a:r>
                  <a:rPr lang="en-NL" sz="2000"/>
                  <a:t>ovement of</a:t>
                </a:r>
              </a:p>
              <a:p>
                <a:pPr algn="ctr"/>
                <a:r>
                  <a:rPr lang="en-GB" sz="2000"/>
                  <a:t>small</a:t>
                </a:r>
                <a:r>
                  <a:rPr lang="en-NL" sz="2000"/>
                  <a:t> things</a:t>
                </a:r>
              </a:p>
              <a:p>
                <a:pPr algn="ctr"/>
                <a:r>
                  <a:rPr lang="en-NL" sz="2000"/>
                  <a:t>(quantum mechanics)</a:t>
                </a:r>
              </a:p>
            </p:txBody>
          </p:sp>
          <p:pic>
            <p:nvPicPr>
              <p:cNvPr id="3076" name="Picture 4" descr="Erwin Schrödinger: biography, feats and paradox of the cat | Network  Meteorology">
                <a:extLst>
                  <a:ext uri="{FF2B5EF4-FFF2-40B4-BE49-F238E27FC236}">
                    <a16:creationId xmlns:a16="http://schemas.microsoft.com/office/drawing/2014/main" id="{D5965CDA-32F0-D16E-26DC-698BFE1887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0040" y="4772645"/>
                <a:ext cx="1289678" cy="1189709"/>
              </a:xfrm>
              <a:prstGeom prst="round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D82A6A-13E4-6761-CD35-A3A912A8B797}"/>
                  </a:ext>
                </a:extLst>
              </p:cNvPr>
              <p:cNvSpPr txBox="1"/>
              <p:nvPr/>
            </p:nvSpPr>
            <p:spPr>
              <a:xfrm>
                <a:off x="3383389" y="5944378"/>
                <a:ext cx="21429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NL"/>
                  <a:t>Erwin Schrodinger</a:t>
                </a: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B2E1B7-6E62-7F01-770E-5DE7EDF89A78}"/>
              </a:ext>
            </a:extLst>
          </p:cNvPr>
          <p:cNvGrpSpPr/>
          <p:nvPr/>
        </p:nvGrpSpPr>
        <p:grpSpPr>
          <a:xfrm>
            <a:off x="436005" y="2649821"/>
            <a:ext cx="2513258" cy="4011323"/>
            <a:chOff x="436005" y="2345027"/>
            <a:chExt cx="2513258" cy="4011323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A33D18B-67B4-E08E-12CA-7CFC73B86E4E}"/>
                </a:ext>
              </a:extLst>
            </p:cNvPr>
            <p:cNvSpPr/>
            <p:nvPr/>
          </p:nvSpPr>
          <p:spPr>
            <a:xfrm>
              <a:off x="436005" y="2345027"/>
              <a:ext cx="2513258" cy="4011323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pic>
          <p:nvPicPr>
            <p:cNvPr id="1026" name="Picture 2" descr="Isaac Newton: Meet, Isaac Newton, the artist: Graffiti sketched by the  young scientist found - The Economic Times">
              <a:extLst>
                <a:ext uri="{FF2B5EF4-FFF2-40B4-BE49-F238E27FC236}">
                  <a16:creationId xmlns:a16="http://schemas.microsoft.com/office/drawing/2014/main" id="{F50F5586-5B27-DB5A-4EAC-F14949283C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7522" y="4778346"/>
              <a:ext cx="1450222" cy="1201580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88D9112-AC40-A7CF-D1B4-A9E17DFB2D5F}"/>
                </a:ext>
              </a:extLst>
            </p:cNvPr>
            <p:cNvSpPr txBox="1"/>
            <p:nvPr/>
          </p:nvSpPr>
          <p:spPr>
            <a:xfrm>
              <a:off x="519332" y="2474532"/>
              <a:ext cx="234660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/>
                <a:t>M</a:t>
              </a:r>
              <a:r>
                <a:rPr lang="en-NL" sz="2000"/>
                <a:t>ovement of</a:t>
              </a:r>
            </a:p>
            <a:p>
              <a:pPr algn="ctr"/>
              <a:r>
                <a:rPr lang="en-GB" sz="2000"/>
                <a:t>b</a:t>
              </a:r>
              <a:r>
                <a:rPr lang="en-NL" sz="2000"/>
                <a:t>ig things</a:t>
              </a:r>
            </a:p>
            <a:p>
              <a:pPr algn="ctr"/>
              <a:r>
                <a:rPr lang="en-NL" sz="2000"/>
                <a:t>(classical mechanics)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87843DD-C4B2-CFC9-3B83-E0DF2FFCC894}"/>
                </a:ext>
              </a:extLst>
            </p:cNvPr>
            <p:cNvSpPr txBox="1"/>
            <p:nvPr/>
          </p:nvSpPr>
          <p:spPr>
            <a:xfrm>
              <a:off x="621144" y="5962354"/>
              <a:ext cx="21429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NL"/>
                <a:t>Isaac Newton</a:t>
              </a:r>
            </a:p>
          </p:txBody>
        </p:sp>
      </p:grpSp>
      <p:sp>
        <p:nvSpPr>
          <p:cNvPr id="45" name="Title 1">
            <a:extLst>
              <a:ext uri="{FF2B5EF4-FFF2-40B4-BE49-F238E27FC236}">
                <a16:creationId xmlns:a16="http://schemas.microsoft.com/office/drawing/2014/main" id="{BE4A3781-3D84-718B-8CBD-6317E27C9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19" y="149229"/>
            <a:ext cx="10515600" cy="526309"/>
          </a:xfrm>
        </p:spPr>
        <p:txBody>
          <a:bodyPr>
            <a:normAutofit fontScale="90000"/>
          </a:bodyPr>
          <a:lstStyle/>
          <a:p>
            <a:pPr algn="ctr"/>
            <a:r>
              <a:rPr lang="en-NL" sz="4267">
                <a:solidFill>
                  <a:srgbClr val="165798"/>
                </a:solidFill>
                <a:latin typeface="Aptos" panose="020B0004020202020204" pitchFamily="34" charset="0"/>
              </a:rPr>
              <a:t>The Principle of Least Action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1BF74AE-9E8C-B862-A51F-C7069CBD624C}"/>
              </a:ext>
            </a:extLst>
          </p:cNvPr>
          <p:cNvGrpSpPr/>
          <p:nvPr/>
        </p:nvGrpSpPr>
        <p:grpSpPr>
          <a:xfrm>
            <a:off x="5879206" y="2107838"/>
            <a:ext cx="2677222" cy="4539890"/>
            <a:chOff x="5879206" y="1803044"/>
            <a:chExt cx="2677222" cy="4539890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F2352DA-CFF8-980F-61E2-1AF3FFD11172}"/>
                </a:ext>
              </a:extLst>
            </p:cNvPr>
            <p:cNvCxnSpPr>
              <a:cxnSpLocks/>
              <a:stCxn id="5" idx="2"/>
              <a:endCxn id="15" idx="0"/>
            </p:cNvCxnSpPr>
            <p:nvPr/>
          </p:nvCxnSpPr>
          <p:spPr>
            <a:xfrm>
              <a:off x="5879206" y="1803044"/>
              <a:ext cx="1394980" cy="55539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5A340B4-E647-EDB9-4AE8-2CD50A79C8F0}"/>
                </a:ext>
              </a:extLst>
            </p:cNvPr>
            <p:cNvGrpSpPr/>
            <p:nvPr/>
          </p:nvGrpSpPr>
          <p:grpSpPr>
            <a:xfrm>
              <a:off x="5991944" y="2358442"/>
              <a:ext cx="2564484" cy="3984492"/>
              <a:chOff x="5991944" y="2358442"/>
              <a:chExt cx="2564484" cy="3984492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046BFEC-7115-B8FC-9930-901CD6753772}"/>
                  </a:ext>
                </a:extLst>
              </p:cNvPr>
              <p:cNvGrpSpPr/>
              <p:nvPr/>
            </p:nvGrpSpPr>
            <p:grpSpPr>
              <a:xfrm>
                <a:off x="5991944" y="2358442"/>
                <a:ext cx="2564484" cy="3984492"/>
                <a:chOff x="5860122" y="2371858"/>
                <a:chExt cx="2564484" cy="3984492"/>
              </a:xfrm>
            </p:grpSpPr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9765B650-6DC3-45E1-886A-A1837F6158D1}"/>
                    </a:ext>
                  </a:extLst>
                </p:cNvPr>
                <p:cNvSpPr/>
                <p:nvPr/>
              </p:nvSpPr>
              <p:spPr>
                <a:xfrm>
                  <a:off x="5885735" y="2371858"/>
                  <a:ext cx="2513258" cy="3984492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/>
                </a:p>
              </p:txBody>
            </p:sp>
            <p:pic>
              <p:nvPicPr>
                <p:cNvPr id="1030" name="Picture 6" descr="James Clerk Maxwell - James Clerk Maxwell 🏴󠁧󠁢󠁳󠁣󠁴󠁿🇬🇧(1831 – 1879)  So extraordinarily important is his work, achieving the unification of  optical, electrical and magnetic phenomena in the set of four equations that">
                  <a:extLst>
                    <a:ext uri="{FF2B5EF4-FFF2-40B4-BE49-F238E27FC236}">
                      <a16:creationId xmlns:a16="http://schemas.microsoft.com/office/drawing/2014/main" id="{418F29A7-D9CC-3174-A05A-A792984FDA4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547510" y="4764620"/>
                  <a:ext cx="1189709" cy="1189709"/>
                </a:xfrm>
                <a:prstGeom prst="round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16ECF15-F99D-390D-965F-F060FEDB7C90}"/>
                    </a:ext>
                  </a:extLst>
                </p:cNvPr>
                <p:cNvSpPr txBox="1"/>
                <p:nvPr/>
              </p:nvSpPr>
              <p:spPr>
                <a:xfrm>
                  <a:off x="5860122" y="2474531"/>
                  <a:ext cx="2564484" cy="101566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2000"/>
                    <a:t>M</a:t>
                  </a:r>
                  <a:r>
                    <a:rPr lang="en-NL" sz="2000"/>
                    <a:t>ovement of</a:t>
                  </a:r>
                </a:p>
                <a:p>
                  <a:pPr algn="ctr"/>
                  <a:r>
                    <a:rPr lang="en-US" sz="2000"/>
                    <a:t>electromagnetic fields</a:t>
                  </a:r>
                </a:p>
                <a:p>
                  <a:pPr algn="ctr"/>
                  <a:r>
                    <a:rPr lang="en-US" sz="2000"/>
                    <a:t>(electrodynamics)</a:t>
                  </a:r>
                  <a:endParaRPr lang="en-NL" sz="2000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AEAD289-C74A-4EF1-F9E2-D6FEA99AFC76}"/>
                    </a:ext>
                  </a:extLst>
                </p:cNvPr>
                <p:cNvSpPr txBox="1"/>
                <p:nvPr/>
              </p:nvSpPr>
              <p:spPr>
                <a:xfrm>
                  <a:off x="6096632" y="5954329"/>
                  <a:ext cx="21429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NL"/>
                    <a:t>James C. Maxwell</a:t>
                  </a:r>
                </a:p>
              </p:txBody>
            </p:sp>
          </p:grpSp>
          <p:pic>
            <p:nvPicPr>
              <p:cNvPr id="2" name="Picture 2">
                <a:extLst>
                  <a:ext uri="{FF2B5EF4-FFF2-40B4-BE49-F238E27FC236}">
                    <a16:creationId xmlns:a16="http://schemas.microsoft.com/office/drawing/2014/main" id="{422BD70C-110B-2864-DFA2-1DAFD125DE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5506" y="3449518"/>
                <a:ext cx="1688876" cy="12587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C3E63B1-6451-F0DD-569D-8A5474B2AAB9}"/>
              </a:ext>
            </a:extLst>
          </p:cNvPr>
          <p:cNvGrpSpPr/>
          <p:nvPr/>
        </p:nvGrpSpPr>
        <p:grpSpPr>
          <a:xfrm>
            <a:off x="79771" y="843016"/>
            <a:ext cx="3079612" cy="1720155"/>
            <a:chOff x="358194" y="758853"/>
            <a:chExt cx="3079612" cy="172015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624DC99-64FB-BF23-77F7-FCC2AF02F4F1}"/>
                </a:ext>
              </a:extLst>
            </p:cNvPr>
            <p:cNvSpPr/>
            <p:nvPr/>
          </p:nvSpPr>
          <p:spPr>
            <a:xfrm rot="14826571">
              <a:off x="1086689" y="543136"/>
              <a:ext cx="1720155" cy="2151590"/>
            </a:xfrm>
            <a:custGeom>
              <a:avLst/>
              <a:gdLst>
                <a:gd name="connsiteX0" fmla="*/ 887081 w 2159959"/>
                <a:gd name="connsiteY0" fmla="*/ 4078224 h 4078224"/>
                <a:gd name="connsiteX1" fmla="*/ 1325993 w 2159959"/>
                <a:gd name="connsiteY1" fmla="*/ 3310128 h 4078224"/>
                <a:gd name="connsiteX2" fmla="*/ 9257 w 2159959"/>
                <a:gd name="connsiteY2" fmla="*/ 1847088 h 4078224"/>
                <a:gd name="connsiteX3" fmla="*/ 2112377 w 2159959"/>
                <a:gd name="connsiteY3" fmla="*/ 914400 h 4078224"/>
                <a:gd name="connsiteX4" fmla="*/ 1527161 w 2159959"/>
                <a:gd name="connsiteY4" fmla="*/ 0 h 4078224"/>
                <a:gd name="connsiteX5" fmla="*/ 1527161 w 2159959"/>
                <a:gd name="connsiteY5" fmla="*/ 0 h 4078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959" h="4078224">
                  <a:moveTo>
                    <a:pt x="887081" y="4078224"/>
                  </a:moveTo>
                  <a:cubicBezTo>
                    <a:pt x="1179689" y="3880104"/>
                    <a:pt x="1472297" y="3681984"/>
                    <a:pt x="1325993" y="3310128"/>
                  </a:cubicBezTo>
                  <a:cubicBezTo>
                    <a:pt x="1179689" y="2938272"/>
                    <a:pt x="-121807" y="2246376"/>
                    <a:pt x="9257" y="1847088"/>
                  </a:cubicBezTo>
                  <a:cubicBezTo>
                    <a:pt x="140321" y="1447800"/>
                    <a:pt x="1859393" y="1222248"/>
                    <a:pt x="2112377" y="914400"/>
                  </a:cubicBezTo>
                  <a:cubicBezTo>
                    <a:pt x="2365361" y="606552"/>
                    <a:pt x="1527161" y="0"/>
                    <a:pt x="1527161" y="0"/>
                  </a:cubicBezTo>
                  <a:lnTo>
                    <a:pt x="1527161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 sz="1351">
                <a:solidFill>
                  <a:srgbClr val="FF0000"/>
                </a:solidFill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2812FBE-13A5-D618-7644-B97DD858AF1E}"/>
                </a:ext>
              </a:extLst>
            </p:cNvPr>
            <p:cNvSpPr/>
            <p:nvPr/>
          </p:nvSpPr>
          <p:spPr>
            <a:xfrm>
              <a:off x="850900" y="1089907"/>
              <a:ext cx="2082800" cy="742006"/>
            </a:xfrm>
            <a:custGeom>
              <a:avLst/>
              <a:gdLst>
                <a:gd name="connsiteX0" fmla="*/ 0 w 2082800"/>
                <a:gd name="connsiteY0" fmla="*/ 662693 h 742006"/>
                <a:gd name="connsiteX1" fmla="*/ 279400 w 2082800"/>
                <a:gd name="connsiteY1" fmla="*/ 281693 h 742006"/>
                <a:gd name="connsiteX2" fmla="*/ 571500 w 2082800"/>
                <a:gd name="connsiteY2" fmla="*/ 738893 h 742006"/>
                <a:gd name="connsiteX3" fmla="*/ 1244600 w 2082800"/>
                <a:gd name="connsiteY3" fmla="*/ 2293 h 742006"/>
                <a:gd name="connsiteX4" fmla="*/ 1574800 w 2082800"/>
                <a:gd name="connsiteY4" fmla="*/ 497593 h 742006"/>
                <a:gd name="connsiteX5" fmla="*/ 2082800 w 2082800"/>
                <a:gd name="connsiteY5" fmla="*/ 205493 h 742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82800" h="742006">
                  <a:moveTo>
                    <a:pt x="0" y="662693"/>
                  </a:moveTo>
                  <a:cubicBezTo>
                    <a:pt x="92075" y="465843"/>
                    <a:pt x="184150" y="268993"/>
                    <a:pt x="279400" y="281693"/>
                  </a:cubicBezTo>
                  <a:cubicBezTo>
                    <a:pt x="374650" y="294393"/>
                    <a:pt x="410633" y="785460"/>
                    <a:pt x="571500" y="738893"/>
                  </a:cubicBezTo>
                  <a:cubicBezTo>
                    <a:pt x="732367" y="692326"/>
                    <a:pt x="1077383" y="42510"/>
                    <a:pt x="1244600" y="2293"/>
                  </a:cubicBezTo>
                  <a:cubicBezTo>
                    <a:pt x="1411817" y="-37924"/>
                    <a:pt x="1435100" y="463726"/>
                    <a:pt x="1574800" y="497593"/>
                  </a:cubicBezTo>
                  <a:cubicBezTo>
                    <a:pt x="1714500" y="531460"/>
                    <a:pt x="1898650" y="368476"/>
                    <a:pt x="2082800" y="205493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0947C9D-E9B3-2A0A-DFA4-96367421551B}"/>
                </a:ext>
              </a:extLst>
            </p:cNvPr>
            <p:cNvSpPr/>
            <p:nvPr/>
          </p:nvSpPr>
          <p:spPr>
            <a:xfrm>
              <a:off x="2827888" y="1200653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5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E1C86BF-CFCB-2EEB-CA4B-1D4B1E6B4B05}"/>
                    </a:ext>
                  </a:extLst>
                </p:cNvPr>
                <p:cNvSpPr txBox="1"/>
                <p:nvPr/>
              </p:nvSpPr>
              <p:spPr>
                <a:xfrm>
                  <a:off x="2834302" y="1242705"/>
                  <a:ext cx="603504" cy="3002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35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1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351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NL" sz="1351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E1C86BF-CFCB-2EEB-CA4B-1D4B1E6B4B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4302" y="1242705"/>
                  <a:ext cx="603504" cy="3002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487B79E-D602-185A-F217-6B30A0EDC04E}"/>
                </a:ext>
              </a:extLst>
            </p:cNvPr>
            <p:cNvSpPr/>
            <p:nvPr/>
          </p:nvSpPr>
          <p:spPr>
            <a:xfrm>
              <a:off x="780260" y="1611532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5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4143CA3-2900-9A09-1239-6142D8F9C112}"/>
                    </a:ext>
                  </a:extLst>
                </p:cNvPr>
                <p:cNvSpPr txBox="1"/>
                <p:nvPr/>
              </p:nvSpPr>
              <p:spPr>
                <a:xfrm>
                  <a:off x="358194" y="1347350"/>
                  <a:ext cx="603504" cy="3002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35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1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351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NL" sz="1351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4143CA3-2900-9A09-1239-6142D8F9C1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94" y="1347350"/>
                  <a:ext cx="603504" cy="3002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7947E3C-C513-51E6-19E4-BB9D4D6B50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9577" y="1358785"/>
              <a:ext cx="252000" cy="25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5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20D51EE-DF9C-07EA-4793-01BD54C3F9F4}"/>
                    </a:ext>
                  </a:extLst>
                </p:cNvPr>
                <p:cNvSpPr txBox="1"/>
                <p:nvPr/>
              </p:nvSpPr>
              <p:spPr>
                <a:xfrm>
                  <a:off x="1627713" y="1557586"/>
                  <a:ext cx="603504" cy="3002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351" i="1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NL" sz="1351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20D51EE-DF9C-07EA-4793-01BD54C3F9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713" y="1557586"/>
                  <a:ext cx="603504" cy="3002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F85C61A-DE0D-8526-282A-DB9573238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0169" y="1112418"/>
              <a:ext cx="316704" cy="3838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79B17B6F-F707-0A34-FC01-78002D93EA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7939" y="4568260"/>
            <a:ext cx="1518195" cy="42050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3DA9C75-890E-C180-47A6-B4D4526BB7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342" y="3794989"/>
            <a:ext cx="2106470" cy="68986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1A3AA3-937F-D10F-6C30-8C5F5B2D5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199" y="703964"/>
            <a:ext cx="10646664" cy="4927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NL" sz="2000"/>
              <a:t>“In nature, energy differences of any kind are neutralized as fast a possible”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4BF1061-E657-6CBB-9B3B-9F5D54EED079}"/>
              </a:ext>
            </a:extLst>
          </p:cNvPr>
          <p:cNvGrpSpPr/>
          <p:nvPr/>
        </p:nvGrpSpPr>
        <p:grpSpPr>
          <a:xfrm>
            <a:off x="5879206" y="2107838"/>
            <a:ext cx="5406579" cy="4546598"/>
            <a:chOff x="5879206" y="2107838"/>
            <a:chExt cx="5406579" cy="454659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7D48C57-C803-AA24-4453-FF28C49D0D4B}"/>
                </a:ext>
              </a:extLst>
            </p:cNvPr>
            <p:cNvCxnSpPr>
              <a:cxnSpLocks/>
              <a:stCxn id="5" idx="2"/>
              <a:endCxn id="48" idx="0"/>
            </p:cNvCxnSpPr>
            <p:nvPr/>
          </p:nvCxnSpPr>
          <p:spPr>
            <a:xfrm>
              <a:off x="5879206" y="2107838"/>
              <a:ext cx="4149950" cy="56210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CE7022CE-EBB7-84D7-EC84-D9F28C4B449C}"/>
                </a:ext>
              </a:extLst>
            </p:cNvPr>
            <p:cNvSpPr/>
            <p:nvPr/>
          </p:nvSpPr>
          <p:spPr>
            <a:xfrm>
              <a:off x="8772527" y="2669944"/>
              <a:ext cx="2513258" cy="3984492"/>
            </a:xfrm>
            <a:prstGeom prst="roundRect">
              <a:avLst/>
            </a:prstGeom>
            <a:noFill/>
            <a:ln w="28575">
              <a:solidFill>
                <a:srgbClr val="E0A2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rgbClr val="E0A296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161ADA5-D9B3-2EED-5BF1-25B537B84C06}"/>
                </a:ext>
              </a:extLst>
            </p:cNvPr>
            <p:cNvSpPr txBox="1"/>
            <p:nvPr/>
          </p:nvSpPr>
          <p:spPr>
            <a:xfrm>
              <a:off x="9089017" y="2765909"/>
              <a:ext cx="19194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/>
                <a:t>M</a:t>
              </a:r>
              <a:r>
                <a:rPr lang="en-NL" sz="2000"/>
                <a:t>ovement of</a:t>
              </a:r>
            </a:p>
            <a:p>
              <a:pPr algn="ctr"/>
              <a:r>
                <a:rPr lang="en-US" sz="2000"/>
                <a:t>beliefs in brains</a:t>
              </a:r>
              <a:endParaRPr lang="en-NL" sz="2000"/>
            </a:p>
          </p:txBody>
        </p:sp>
      </p:grpSp>
      <p:pic>
        <p:nvPicPr>
          <p:cNvPr id="25" name="Picture 2" descr="Interactive Brain - How Injury Can Affect the Brain | BrainLine">
            <a:extLst>
              <a:ext uri="{FF2B5EF4-FFF2-40B4-BE49-F238E27FC236}">
                <a16:creationId xmlns:a16="http://schemas.microsoft.com/office/drawing/2014/main" id="{4BC1AAFE-28CF-FE44-B7C1-DD8992211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731" y="4195836"/>
            <a:ext cx="2142981" cy="164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60C2527F-4C4C-319B-9879-03F8A5F02979}"/>
              </a:ext>
            </a:extLst>
          </p:cNvPr>
          <p:cNvGrpSpPr/>
          <p:nvPr/>
        </p:nvGrpSpPr>
        <p:grpSpPr>
          <a:xfrm>
            <a:off x="8321383" y="1953138"/>
            <a:ext cx="3560064" cy="4652077"/>
            <a:chOff x="8321383" y="1953138"/>
            <a:chExt cx="3560064" cy="4652077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FF743057-7D12-271E-C732-145A30B18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20674" y="4036266"/>
              <a:ext cx="2383682" cy="493968"/>
            </a:xfrm>
            <a:prstGeom prst="rect">
              <a:avLst/>
            </a:prstGeom>
          </p:spPr>
        </p:pic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CD05EDD-BE58-3501-9E57-8D73E138A427}"/>
                </a:ext>
              </a:extLst>
            </p:cNvPr>
            <p:cNvGrpSpPr/>
            <p:nvPr/>
          </p:nvGrpSpPr>
          <p:grpSpPr>
            <a:xfrm>
              <a:off x="8321383" y="1953138"/>
              <a:ext cx="3560064" cy="4652077"/>
              <a:chOff x="8321383" y="1953138"/>
              <a:chExt cx="3560064" cy="4652077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E609FC1-8F18-9FCF-D8DC-01AED95C78F7}"/>
                  </a:ext>
                </a:extLst>
              </p:cNvPr>
              <p:cNvSpPr txBox="1"/>
              <p:nvPr/>
            </p:nvSpPr>
            <p:spPr>
              <a:xfrm>
                <a:off x="8941026" y="6235883"/>
                <a:ext cx="21429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NL"/>
                  <a:t>Karl Friston</a:t>
                </a:r>
              </a:p>
            </p:txBody>
          </p:sp>
          <p:pic>
            <p:nvPicPr>
              <p:cNvPr id="42" name="Picture 4" descr="Karl Friston | University College London - Academia.edu">
                <a:extLst>
                  <a:ext uri="{FF2B5EF4-FFF2-40B4-BE49-F238E27FC236}">
                    <a16:creationId xmlns:a16="http://schemas.microsoft.com/office/drawing/2014/main" id="{3F741496-615B-D13C-ABE0-F857C8C9C0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05742" y="5055998"/>
                <a:ext cx="1189710" cy="1189709"/>
              </a:xfrm>
              <a:prstGeom prst="round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4B0EA4D-083C-4DD3-CCEE-9503E8CD0E5F}"/>
                  </a:ext>
                </a:extLst>
              </p:cNvPr>
              <p:cNvSpPr txBox="1"/>
              <p:nvPr/>
            </p:nvSpPr>
            <p:spPr>
              <a:xfrm>
                <a:off x="8704084" y="3376903"/>
                <a:ext cx="26168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/>
                  <a:t>(Bayesian mechanics)</a:t>
                </a:r>
              </a:p>
            </p:txBody>
          </p:sp>
          <p:sp>
            <p:nvSpPr>
              <p:cNvPr id="53" name="Content Placeholder 2">
                <a:extLst>
                  <a:ext uri="{FF2B5EF4-FFF2-40B4-BE49-F238E27FC236}">
                    <a16:creationId xmlns:a16="http://schemas.microsoft.com/office/drawing/2014/main" id="{96A93270-B1CC-1556-3D4F-9BF4D3A9C7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21383" y="1953138"/>
                <a:ext cx="3560064" cy="6688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>
                    <a:solidFill>
                      <a:srgbClr val="B08178"/>
                    </a:solidFill>
                  </a:rPr>
                  <a:t>Free Energy Principle</a:t>
                </a:r>
                <a:endParaRPr lang="en-NL" sz="2400">
                  <a:solidFill>
                    <a:srgbClr val="B08178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614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3ECE9-8068-01DB-1826-E7536C3DD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0E640A0-0781-5247-16A3-DF57C9EF2C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l="8527" t="20395" r="7451" b="27860"/>
          <a:stretch>
            <a:fillRect/>
          </a:stretch>
        </p:blipFill>
        <p:spPr>
          <a:xfrm>
            <a:off x="-75637" y="606274"/>
            <a:ext cx="5434298" cy="50201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36540-EF99-A12C-D96A-4D8A6520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0372" y="6426705"/>
            <a:ext cx="667828" cy="338461"/>
          </a:xfrm>
        </p:spPr>
        <p:txBody>
          <a:bodyPr/>
          <a:lstStyle/>
          <a:p>
            <a:fld id="{EFD68D12-B089-A94E-A9BA-DBFEDD5ACBF6}" type="slidenum">
              <a:rPr lang="en-NL" smtClean="0"/>
              <a:t>4</a:t>
            </a:fld>
            <a:endParaRPr lang="en-NL"/>
          </a:p>
        </p:txBody>
      </p:sp>
      <p:pic>
        <p:nvPicPr>
          <p:cNvPr id="24" name="Content Placeholder 8">
            <a:extLst>
              <a:ext uri="{FF2B5EF4-FFF2-40B4-BE49-F238E27FC236}">
                <a16:creationId xmlns:a16="http://schemas.microsoft.com/office/drawing/2014/main" id="{54E9C7C8-393F-28DA-B408-122D6A21D9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58661" y="1886368"/>
            <a:ext cx="3100202" cy="4118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AE126E61-EE31-C6C1-9AE4-D9C38D872587}"/>
              </a:ext>
            </a:extLst>
          </p:cNvPr>
          <p:cNvGrpSpPr/>
          <p:nvPr/>
        </p:nvGrpSpPr>
        <p:grpSpPr>
          <a:xfrm>
            <a:off x="8547542" y="1882936"/>
            <a:ext cx="3427805" cy="4441581"/>
            <a:chOff x="8547542" y="1882936"/>
            <a:chExt cx="3427805" cy="444158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7E14514-77F1-02D5-5A05-1D8AF092FE90}"/>
                </a:ext>
              </a:extLst>
            </p:cNvPr>
            <p:cNvSpPr txBox="1"/>
            <p:nvPr/>
          </p:nvSpPr>
          <p:spPr>
            <a:xfrm>
              <a:off x="8547542" y="6047518"/>
              <a:ext cx="34278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The Gardener Giuseppe Arcimboldo  ~1590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A95CB0F-6E82-A3FF-2FB2-DEE64EC98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1345" y="1882936"/>
              <a:ext cx="3100201" cy="4118690"/>
            </a:xfrm>
            <a:prstGeom prst="rect">
              <a:avLst/>
            </a:prstGeom>
          </p:spPr>
        </p:pic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757B479D-09D4-053E-A8DB-C1438C3ED01B}"/>
              </a:ext>
            </a:extLst>
          </p:cNvPr>
          <p:cNvSpPr txBox="1">
            <a:spLocks/>
          </p:cNvSpPr>
          <p:nvPr/>
        </p:nvSpPr>
        <p:spPr>
          <a:xfrm>
            <a:off x="4589564" y="599078"/>
            <a:ext cx="7248934" cy="10994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>
                <a:latin typeface="+mn-lt"/>
              </a:rPr>
              <a:t>The brain is a </a:t>
            </a:r>
            <a:r>
              <a:rPr lang="en-US" sz="2000" b="1" dirty="0">
                <a:latin typeface="+mn-lt"/>
              </a:rPr>
              <a:t>hierarchical probabilistic generative model</a:t>
            </a:r>
            <a:r>
              <a:rPr lang="en-US" sz="2000" dirty="0">
                <a:latin typeface="+mn-lt"/>
              </a:rPr>
              <a:t> 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>
                <a:latin typeface="+mn-lt"/>
              </a:rPr>
              <a:t>All processing is </a:t>
            </a:r>
            <a:r>
              <a:rPr lang="en-US" sz="2000" b="1" dirty="0">
                <a:latin typeface="+mn-lt"/>
              </a:rPr>
              <a:t>(variational) Bayesian inference</a:t>
            </a:r>
            <a:endParaRPr lang="en-NL" sz="200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49502F1-FC74-A678-90E0-AC839E7E9ABF}"/>
              </a:ext>
            </a:extLst>
          </p:cNvPr>
          <p:cNvSpPr txBox="1">
            <a:spLocks/>
          </p:cNvSpPr>
          <p:nvPr/>
        </p:nvSpPr>
        <p:spPr>
          <a:xfrm>
            <a:off x="838200" y="68963"/>
            <a:ext cx="10515600" cy="5263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NL" sz="3800">
                <a:solidFill>
                  <a:srgbClr val="165798"/>
                </a:solidFill>
                <a:latin typeface="Aptos" panose="020B0004020202020204" pitchFamily="34" charset="0"/>
              </a:rPr>
              <a:t>The Brain is a Generative M</a:t>
            </a:r>
            <a:r>
              <a:rPr lang="en-GB" sz="3800">
                <a:solidFill>
                  <a:srgbClr val="165798"/>
                </a:solidFill>
                <a:latin typeface="Aptos" panose="020B0004020202020204" pitchFamily="34" charset="0"/>
              </a:rPr>
              <a:t>o</a:t>
            </a:r>
            <a:r>
              <a:rPr lang="en-NL" sz="3800">
                <a:solidFill>
                  <a:srgbClr val="165798"/>
                </a:solidFill>
                <a:latin typeface="Aptos" panose="020B0004020202020204" pitchFamily="34" charset="0"/>
              </a:rPr>
              <a:t>del for its Sensorium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5A625AD-377D-3C0F-D7A5-806E8B57261A}"/>
              </a:ext>
            </a:extLst>
          </p:cNvPr>
          <p:cNvSpPr/>
          <p:nvPr/>
        </p:nvSpPr>
        <p:spPr>
          <a:xfrm>
            <a:off x="1457008" y="1000288"/>
            <a:ext cx="2415929" cy="7136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B418669-0BFA-95D3-06C8-088A74EDE8C7}"/>
              </a:ext>
            </a:extLst>
          </p:cNvPr>
          <p:cNvSpPr/>
          <p:nvPr/>
        </p:nvSpPr>
        <p:spPr>
          <a:xfrm>
            <a:off x="1457008" y="2189049"/>
            <a:ext cx="2415929" cy="7136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04D9BF6-0B72-E9D8-7624-DE6374FBF51E}"/>
              </a:ext>
            </a:extLst>
          </p:cNvPr>
          <p:cNvSpPr/>
          <p:nvPr/>
        </p:nvSpPr>
        <p:spPr>
          <a:xfrm>
            <a:off x="1457008" y="3377810"/>
            <a:ext cx="2415931" cy="7136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62DA94-AE47-36AD-4BBA-BF8E3672B769}"/>
              </a:ext>
            </a:extLst>
          </p:cNvPr>
          <p:cNvCxnSpPr>
            <a:cxnSpLocks/>
          </p:cNvCxnSpPr>
          <p:nvPr/>
        </p:nvCxnSpPr>
        <p:spPr>
          <a:xfrm>
            <a:off x="2306155" y="1713966"/>
            <a:ext cx="0" cy="47508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B02530-2A73-8E2A-E8EC-459B7CAD183D}"/>
              </a:ext>
            </a:extLst>
          </p:cNvPr>
          <p:cNvCxnSpPr>
            <a:cxnSpLocks/>
          </p:cNvCxnSpPr>
          <p:nvPr/>
        </p:nvCxnSpPr>
        <p:spPr>
          <a:xfrm>
            <a:off x="2306155" y="2902727"/>
            <a:ext cx="0" cy="47508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E6E9F25-02AE-2BEF-4E23-1AC85B9CF508}"/>
              </a:ext>
            </a:extLst>
          </p:cNvPr>
          <p:cNvSpPr/>
          <p:nvPr/>
        </p:nvSpPr>
        <p:spPr>
          <a:xfrm>
            <a:off x="2113777" y="4566571"/>
            <a:ext cx="371007" cy="3672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D50375-0281-E88F-936B-592117AB561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299280" y="4091488"/>
            <a:ext cx="1" cy="47508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D93E454-E4AF-4655-7553-C404FF2E9E37}"/>
              </a:ext>
            </a:extLst>
          </p:cNvPr>
          <p:cNvCxnSpPr>
            <a:cxnSpLocks/>
            <a:endCxn id="15" idx="4"/>
          </p:cNvCxnSpPr>
          <p:nvPr/>
        </p:nvCxnSpPr>
        <p:spPr>
          <a:xfrm flipV="1">
            <a:off x="2299280" y="4933830"/>
            <a:ext cx="1" cy="4750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E12C8E5-41F4-5510-7FDA-0D389B6B76CB}"/>
              </a:ext>
            </a:extLst>
          </p:cNvPr>
          <p:cNvSpPr txBox="1"/>
          <p:nvPr/>
        </p:nvSpPr>
        <p:spPr>
          <a:xfrm>
            <a:off x="1099465" y="4149416"/>
            <a:ext cx="119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735BF5-F83C-10C9-AD5C-FEA331A76D4E}"/>
              </a:ext>
            </a:extLst>
          </p:cNvPr>
          <p:cNvSpPr txBox="1"/>
          <p:nvPr/>
        </p:nvSpPr>
        <p:spPr>
          <a:xfrm>
            <a:off x="1099465" y="2936706"/>
            <a:ext cx="119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A3E489-CDC4-A6D9-A430-129B7A740208}"/>
              </a:ext>
            </a:extLst>
          </p:cNvPr>
          <p:cNvSpPr txBox="1"/>
          <p:nvPr/>
        </p:nvSpPr>
        <p:spPr>
          <a:xfrm>
            <a:off x="1099465" y="1771894"/>
            <a:ext cx="119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B30A66-D042-F343-A766-ADC7D6E7D04A}"/>
              </a:ext>
            </a:extLst>
          </p:cNvPr>
          <p:cNvSpPr txBox="1"/>
          <p:nvPr/>
        </p:nvSpPr>
        <p:spPr>
          <a:xfrm>
            <a:off x="2306155" y="4986705"/>
            <a:ext cx="1363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165798"/>
                </a:solidFill>
              </a:rPr>
              <a:t>observation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DCF0CD2F-104B-2D15-C4FC-B793A516D136}"/>
              </a:ext>
            </a:extLst>
          </p:cNvPr>
          <p:cNvCxnSpPr>
            <a:cxnSpLocks/>
            <a:stCxn id="15" idx="6"/>
          </p:cNvCxnSpPr>
          <p:nvPr/>
        </p:nvCxnSpPr>
        <p:spPr>
          <a:xfrm flipV="1">
            <a:off x="2484784" y="4091488"/>
            <a:ext cx="418859" cy="658713"/>
          </a:xfrm>
          <a:prstGeom prst="bentConnector2">
            <a:avLst/>
          </a:prstGeom>
          <a:ln>
            <a:solidFill>
              <a:srgbClr val="B081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10A7376-ABE0-4E09-30FC-2B404ED7CB58}"/>
              </a:ext>
            </a:extLst>
          </p:cNvPr>
          <p:cNvCxnSpPr>
            <a:cxnSpLocks/>
          </p:cNvCxnSpPr>
          <p:nvPr/>
        </p:nvCxnSpPr>
        <p:spPr>
          <a:xfrm flipH="1" flipV="1">
            <a:off x="2903643" y="2901689"/>
            <a:ext cx="1" cy="475083"/>
          </a:xfrm>
          <a:prstGeom prst="straightConnector1">
            <a:avLst/>
          </a:prstGeom>
          <a:ln>
            <a:solidFill>
              <a:srgbClr val="B08178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50AEB86-4C54-D826-3021-E51ED1AE539D}"/>
              </a:ext>
            </a:extLst>
          </p:cNvPr>
          <p:cNvCxnSpPr>
            <a:cxnSpLocks/>
          </p:cNvCxnSpPr>
          <p:nvPr/>
        </p:nvCxnSpPr>
        <p:spPr>
          <a:xfrm flipV="1">
            <a:off x="2903643" y="1713966"/>
            <a:ext cx="0" cy="475083"/>
          </a:xfrm>
          <a:prstGeom prst="straightConnector1">
            <a:avLst/>
          </a:prstGeom>
          <a:ln>
            <a:solidFill>
              <a:srgbClr val="B08178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59A7CFA-87D5-980C-8F07-6FBB2986F818}"/>
              </a:ext>
            </a:extLst>
          </p:cNvPr>
          <p:cNvSpPr txBox="1"/>
          <p:nvPr/>
        </p:nvSpPr>
        <p:spPr>
          <a:xfrm>
            <a:off x="3013645" y="4149416"/>
            <a:ext cx="1210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8E6861"/>
                </a:solidFill>
              </a:rPr>
              <a:t>correction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7DAFE9-7D83-D5DE-B56B-C65D69B8F74F}"/>
              </a:ext>
            </a:extLst>
          </p:cNvPr>
          <p:cNvSpPr txBox="1"/>
          <p:nvPr/>
        </p:nvSpPr>
        <p:spPr>
          <a:xfrm>
            <a:off x="3013645" y="2954564"/>
            <a:ext cx="1210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8E6861"/>
                </a:solidFill>
              </a:rPr>
              <a:t>correction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5C9CB8-535A-33F7-C6EF-908CFF1DF582}"/>
              </a:ext>
            </a:extLst>
          </p:cNvPr>
          <p:cNvSpPr txBox="1"/>
          <p:nvPr/>
        </p:nvSpPr>
        <p:spPr>
          <a:xfrm>
            <a:off x="3013645" y="1772930"/>
            <a:ext cx="1210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8E6861"/>
                </a:solidFill>
              </a:rPr>
              <a:t>correction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1094CA-A86A-01B9-26C1-A666630C75C2}"/>
              </a:ext>
            </a:extLst>
          </p:cNvPr>
          <p:cNvSpPr txBox="1"/>
          <p:nvPr/>
        </p:nvSpPr>
        <p:spPr>
          <a:xfrm>
            <a:off x="1969225" y="3546106"/>
            <a:ext cx="132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“concrete”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5D2BC2-128C-85E4-7E5A-3CE1E39D873F}"/>
              </a:ext>
            </a:extLst>
          </p:cNvPr>
          <p:cNvSpPr txBox="1"/>
          <p:nvPr/>
        </p:nvSpPr>
        <p:spPr>
          <a:xfrm>
            <a:off x="2033038" y="1152799"/>
            <a:ext cx="1218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“abstract”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212C48-7B74-55E7-E6FF-9968310013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440" y="5447803"/>
            <a:ext cx="1199430" cy="1199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7C2D5F-A209-2FB1-237E-7691F4343124}"/>
              </a:ext>
            </a:extLst>
          </p:cNvPr>
          <p:cNvSpPr txBox="1"/>
          <p:nvPr/>
        </p:nvSpPr>
        <p:spPr>
          <a:xfrm>
            <a:off x="1159892" y="4670042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65798"/>
                </a:solidFill>
              </a:rPr>
              <a:t>sensor</a:t>
            </a:r>
          </a:p>
        </p:txBody>
      </p:sp>
    </p:spTree>
    <p:extLst>
      <p:ext uri="{BB962C8B-B14F-4D97-AF65-F5344CB8AC3E}">
        <p14:creationId xmlns:p14="http://schemas.microsoft.com/office/powerpoint/2010/main" val="280406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4EC1DB-87FA-9DFD-25BA-A98B51B2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8D12-B089-A94E-A9BA-DBFEDD5ACBF6}" type="slidenum">
              <a:rPr lang="en-NL" smtClean="0"/>
              <a:t>5</a:t>
            </a:fld>
            <a:endParaRPr lang="en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674F8C-E4F3-9537-2B40-66102EC15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267" y="1168791"/>
            <a:ext cx="3616334" cy="4520418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54092E2-2B72-8EC3-9267-6497C7E11C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63" r="14334"/>
          <a:stretch/>
        </p:blipFill>
        <p:spPr bwMode="auto">
          <a:xfrm>
            <a:off x="6770872" y="1168791"/>
            <a:ext cx="3719842" cy="4520418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977F7-9786-3347-422A-3529B6962065}"/>
              </a:ext>
            </a:extLst>
          </p:cNvPr>
          <p:cNvSpPr txBox="1">
            <a:spLocks/>
          </p:cNvSpPr>
          <p:nvPr/>
        </p:nvSpPr>
        <p:spPr>
          <a:xfrm>
            <a:off x="896459" y="5820843"/>
            <a:ext cx="4387950" cy="63321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NL" sz="2000"/>
              <a:t>“</a:t>
            </a:r>
            <a:r>
              <a:rPr lang="en-US" sz="2400" dirty="0"/>
              <a:t>Control minimizes a cost function of state of the world</a:t>
            </a:r>
            <a:r>
              <a:rPr lang="en-NL" sz="2400"/>
              <a:t>”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6C5974-68A7-27A3-D8C4-EC71AA91BBD9}"/>
              </a:ext>
            </a:extLst>
          </p:cNvPr>
          <p:cNvSpPr txBox="1">
            <a:spLocks/>
          </p:cNvSpPr>
          <p:nvPr/>
        </p:nvSpPr>
        <p:spPr>
          <a:xfrm>
            <a:off x="5966046" y="5746705"/>
            <a:ext cx="5329495" cy="64633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NL" sz="2200"/>
              <a:t>“(In biotic systems,) </a:t>
            </a:r>
            <a:r>
              <a:rPr lang="en-US" sz="2200"/>
              <a:t>control is a side-effect of optimizing </a:t>
            </a:r>
            <a:r>
              <a:rPr lang="en-US" sz="2200">
                <a:solidFill>
                  <a:srgbClr val="FF0000"/>
                </a:solidFill>
              </a:rPr>
              <a:t>beliefs</a:t>
            </a:r>
            <a:r>
              <a:rPr lang="en-US" sz="2200"/>
              <a:t> about the state of the world”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F06E84-70FF-D6E2-47FF-81B7992A569C}"/>
              </a:ext>
            </a:extLst>
          </p:cNvPr>
          <p:cNvSpPr txBox="1">
            <a:spLocks/>
          </p:cNvSpPr>
          <p:nvPr/>
        </p:nvSpPr>
        <p:spPr>
          <a:xfrm>
            <a:off x="844958" y="713695"/>
            <a:ext cx="4387950" cy="63321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tx2"/>
                </a:solidFill>
              </a:rPr>
              <a:t>Richard Bellman (~1960)</a:t>
            </a:r>
            <a:endParaRPr lang="en-NL" sz="2400">
              <a:solidFill>
                <a:schemeClr val="tx2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507BF4-C1DC-F0F7-45D7-14B837B5D1B7}"/>
              </a:ext>
            </a:extLst>
          </p:cNvPr>
          <p:cNvSpPr txBox="1">
            <a:spLocks/>
          </p:cNvSpPr>
          <p:nvPr/>
        </p:nvSpPr>
        <p:spPr>
          <a:xfrm>
            <a:off x="6436818" y="713695"/>
            <a:ext cx="4387950" cy="63321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tx2"/>
                </a:solidFill>
              </a:rPr>
              <a:t>Karl Friston (~2005)</a:t>
            </a:r>
            <a:endParaRPr lang="en-NL" sz="2400">
              <a:solidFill>
                <a:schemeClr val="tx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89DA4C0-3EA2-5CF4-C1C7-D2B68FC88EB8}"/>
              </a:ext>
            </a:extLst>
          </p:cNvPr>
          <p:cNvSpPr txBox="1">
            <a:spLocks/>
          </p:cNvSpPr>
          <p:nvPr/>
        </p:nvSpPr>
        <p:spPr>
          <a:xfrm>
            <a:off x="656219" y="149229"/>
            <a:ext cx="10515600" cy="526309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267">
                <a:solidFill>
                  <a:srgbClr val="0070C0"/>
                </a:solidFill>
              </a:rPr>
              <a:t>The Mechanism of Control</a:t>
            </a:r>
            <a:endParaRPr lang="en-NL" sz="4267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415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61081-016B-A264-483E-C9CCB6639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ox with ports&#10;&#10;AI-generated content may be incorrect.">
            <a:extLst>
              <a:ext uri="{FF2B5EF4-FFF2-40B4-BE49-F238E27FC236}">
                <a16:creationId xmlns:a16="http://schemas.microsoft.com/office/drawing/2014/main" id="{A350783B-2349-3C85-E96F-1CA5AD3F8D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6585510" y="641774"/>
            <a:ext cx="5444717" cy="45554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F2B46E-7546-B128-01D6-40CA7564D7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l="8527" t="20395" r="7451" b="27860"/>
          <a:stretch>
            <a:fillRect/>
          </a:stretch>
        </p:blipFill>
        <p:spPr>
          <a:xfrm>
            <a:off x="-89436" y="620051"/>
            <a:ext cx="5434298" cy="50201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18719-4396-606A-F192-AE27E4531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0372" y="6426705"/>
            <a:ext cx="667828" cy="338461"/>
          </a:xfrm>
        </p:spPr>
        <p:txBody>
          <a:bodyPr/>
          <a:lstStyle/>
          <a:p>
            <a:fld id="{EFD68D12-B089-A94E-A9BA-DBFEDD5ACBF6}" type="slidenum">
              <a:rPr lang="en-NL" smtClean="0"/>
              <a:t>6</a:t>
            </a:fld>
            <a:endParaRPr lang="en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1953DDF-7A0D-5CBE-8219-D9B46AF795B0}"/>
              </a:ext>
            </a:extLst>
          </p:cNvPr>
          <p:cNvSpPr txBox="1">
            <a:spLocks/>
          </p:cNvSpPr>
          <p:nvPr/>
        </p:nvSpPr>
        <p:spPr>
          <a:xfrm>
            <a:off x="838200" y="68963"/>
            <a:ext cx="10515600" cy="5263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dirty="0">
                <a:solidFill>
                  <a:srgbClr val="165798"/>
                </a:solidFill>
                <a:latin typeface="Aptos" panose="020B0004020202020204" pitchFamily="34" charset="0"/>
              </a:rPr>
              <a:t>(Synthetic) Active Inference</a:t>
            </a:r>
            <a:endParaRPr lang="en-NL" sz="3800" dirty="0">
              <a:solidFill>
                <a:srgbClr val="165798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51251C6-A3ED-CD1B-06F9-7F1C8E733BC9}"/>
              </a:ext>
            </a:extLst>
          </p:cNvPr>
          <p:cNvSpPr/>
          <p:nvPr/>
        </p:nvSpPr>
        <p:spPr>
          <a:xfrm>
            <a:off x="2113777" y="4566571"/>
            <a:ext cx="371007" cy="3672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FA8CECD-E025-EBF8-E63F-CF7B040EED85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299280" y="4091488"/>
            <a:ext cx="1" cy="47508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2D44A89-2F18-A7E0-F1B3-B39D605E3B32}"/>
              </a:ext>
            </a:extLst>
          </p:cNvPr>
          <p:cNvCxnSpPr>
            <a:cxnSpLocks/>
            <a:endCxn id="15" idx="4"/>
          </p:cNvCxnSpPr>
          <p:nvPr/>
        </p:nvCxnSpPr>
        <p:spPr>
          <a:xfrm flipV="1">
            <a:off x="2299280" y="4933830"/>
            <a:ext cx="1" cy="4750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801D076-FE32-035D-BC25-112FA04EA154}"/>
              </a:ext>
            </a:extLst>
          </p:cNvPr>
          <p:cNvSpPr txBox="1"/>
          <p:nvPr/>
        </p:nvSpPr>
        <p:spPr>
          <a:xfrm>
            <a:off x="1099465" y="4149416"/>
            <a:ext cx="119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prediction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9F8B1F-3B85-18CC-5792-C1EF06801DBC}"/>
              </a:ext>
            </a:extLst>
          </p:cNvPr>
          <p:cNvSpPr txBox="1"/>
          <p:nvPr/>
        </p:nvSpPr>
        <p:spPr>
          <a:xfrm>
            <a:off x="2306155" y="4986705"/>
            <a:ext cx="1363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165798"/>
                </a:solidFill>
              </a:rPr>
              <a:t>observation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ED2F9DDF-E4E3-FDF6-5D34-269DCB34D430}"/>
              </a:ext>
            </a:extLst>
          </p:cNvPr>
          <p:cNvCxnSpPr>
            <a:cxnSpLocks/>
          </p:cNvCxnSpPr>
          <p:nvPr/>
        </p:nvCxnSpPr>
        <p:spPr>
          <a:xfrm flipV="1">
            <a:off x="2475831" y="4094013"/>
            <a:ext cx="418859" cy="658713"/>
          </a:xfrm>
          <a:prstGeom prst="bentConnector2">
            <a:avLst/>
          </a:prstGeom>
          <a:ln>
            <a:solidFill>
              <a:srgbClr val="8E686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B09505E-20D8-4CA5-D753-A020E8EF63EA}"/>
              </a:ext>
            </a:extLst>
          </p:cNvPr>
          <p:cNvSpPr txBox="1"/>
          <p:nvPr/>
        </p:nvSpPr>
        <p:spPr>
          <a:xfrm>
            <a:off x="1159892" y="4670042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65798"/>
                </a:solidFill>
              </a:rPr>
              <a:t>sensor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EB9307-7E4C-2CC0-F06A-55C3697C3D86}"/>
              </a:ext>
            </a:extLst>
          </p:cNvPr>
          <p:cNvSpPr txBox="1"/>
          <p:nvPr/>
        </p:nvSpPr>
        <p:spPr>
          <a:xfrm>
            <a:off x="3013645" y="4149416"/>
            <a:ext cx="121065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B08178"/>
                </a:solidFill>
              </a:rPr>
              <a:t>correction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6A06D-47B3-7542-15DD-B9E9C7CF7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082968"/>
            <a:ext cx="3766993" cy="1292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4A0832E-8F10-50B3-2431-EE6F73F5D6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714" y="2467584"/>
            <a:ext cx="3766993" cy="150565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73C3AF1-054E-301B-DD64-AD51BB0B5CE7}"/>
              </a:ext>
            </a:extLst>
          </p:cNvPr>
          <p:cNvGrpSpPr/>
          <p:nvPr/>
        </p:nvGrpSpPr>
        <p:grpSpPr>
          <a:xfrm>
            <a:off x="3978080" y="711000"/>
            <a:ext cx="1381279" cy="1828800"/>
            <a:chOff x="4941429" y="3847698"/>
            <a:chExt cx="1381279" cy="18288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F556805-4C67-5873-FDEB-8E18C1ECE8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941429" y="3847698"/>
              <a:ext cx="1381279" cy="1828800"/>
              <a:chOff x="518970" y="3627016"/>
              <a:chExt cx="1797156" cy="2379414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D7C34EA3-4EC9-0CE1-E9E0-E7CB4E5782BC}"/>
                  </a:ext>
                </a:extLst>
              </p:cNvPr>
              <p:cNvSpPr/>
              <p:nvPr/>
            </p:nvSpPr>
            <p:spPr>
              <a:xfrm>
                <a:off x="518970" y="3627016"/>
                <a:ext cx="1797156" cy="237941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9E29E9-65A9-6FA0-92A5-1B7C276BBD69}"/>
                  </a:ext>
                </a:extLst>
              </p:cNvPr>
              <p:cNvSpPr txBox="1"/>
              <p:nvPr/>
            </p:nvSpPr>
            <p:spPr>
              <a:xfrm>
                <a:off x="966003" y="3717085"/>
                <a:ext cx="902331" cy="360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rgbClr val="0070C0"/>
                    </a:solidFill>
                  </a:rPr>
                  <a:t>Physics</a:t>
                </a:r>
                <a:endParaRPr lang="en-NL" sz="1200">
                  <a:solidFill>
                    <a:srgbClr val="0070C0"/>
                  </a:solidFill>
                </a:endParaRPr>
              </a:p>
            </p:txBody>
          </p:sp>
        </p:grpSp>
        <p:pic>
          <p:nvPicPr>
            <p:cNvPr id="12" name="Picture 11" descr="Interactive Brain - How Injury Can Affect the Brain | BrainLine">
              <a:extLst>
                <a:ext uri="{FF2B5EF4-FFF2-40B4-BE49-F238E27FC236}">
                  <a16:creationId xmlns:a16="http://schemas.microsoft.com/office/drawing/2014/main" id="{E8109F1F-162F-1EA3-01BE-6DF2C7357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7452" y="4417750"/>
              <a:ext cx="1215860" cy="934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6578D12-EDE6-A152-1306-1CF6DCC34DA5}"/>
              </a:ext>
            </a:extLst>
          </p:cNvPr>
          <p:cNvGrpSpPr/>
          <p:nvPr/>
        </p:nvGrpSpPr>
        <p:grpSpPr>
          <a:xfrm>
            <a:off x="7175500" y="641774"/>
            <a:ext cx="4419222" cy="4751127"/>
            <a:chOff x="7175500" y="641774"/>
            <a:chExt cx="4419222" cy="4751127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E6FE765-16A9-834C-3622-AF3C4B201FC1}"/>
                </a:ext>
              </a:extLst>
            </p:cNvPr>
            <p:cNvSpPr/>
            <p:nvPr/>
          </p:nvSpPr>
          <p:spPr>
            <a:xfrm>
              <a:off x="8451803" y="4550560"/>
              <a:ext cx="371007" cy="36725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E0A296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E06D08A-A881-21DF-7AB5-155594880A2A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8637306" y="4075477"/>
              <a:ext cx="1" cy="47508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8255ECC-C618-2546-9254-3E71127E80FC}"/>
                </a:ext>
              </a:extLst>
            </p:cNvPr>
            <p:cNvCxnSpPr>
              <a:cxnSpLocks/>
              <a:endCxn id="28" idx="4"/>
            </p:cNvCxnSpPr>
            <p:nvPr/>
          </p:nvCxnSpPr>
          <p:spPr>
            <a:xfrm flipV="1">
              <a:off x="8637306" y="4917819"/>
              <a:ext cx="1" cy="47508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9D2ABD8-4E7A-035D-C2F9-711AE535DF5E}"/>
                </a:ext>
              </a:extLst>
            </p:cNvPr>
            <p:cNvSpPr txBox="1"/>
            <p:nvPr/>
          </p:nvSpPr>
          <p:spPr>
            <a:xfrm>
              <a:off x="7437491" y="4133405"/>
              <a:ext cx="11994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prediction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4A3CF62-B13F-CA27-6A5B-184FE5B81F4F}"/>
                </a:ext>
              </a:extLst>
            </p:cNvPr>
            <p:cNvSpPr txBox="1"/>
            <p:nvPr/>
          </p:nvSpPr>
          <p:spPr>
            <a:xfrm>
              <a:off x="8644181" y="4970694"/>
              <a:ext cx="1363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165798"/>
                  </a:solidFill>
                </a:rPr>
                <a:t>observation</a:t>
              </a:r>
            </a:p>
          </p:txBody>
        </p: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C50CC468-14B5-8D78-B340-492BBB4259A4}"/>
                </a:ext>
              </a:extLst>
            </p:cNvPr>
            <p:cNvCxnSpPr>
              <a:cxnSpLocks/>
              <a:stCxn id="28" idx="6"/>
            </p:cNvCxnSpPr>
            <p:nvPr/>
          </p:nvCxnSpPr>
          <p:spPr>
            <a:xfrm flipV="1">
              <a:off x="8822810" y="4075477"/>
              <a:ext cx="418859" cy="658713"/>
            </a:xfrm>
            <a:prstGeom prst="bentConnector2">
              <a:avLst/>
            </a:prstGeom>
            <a:ln>
              <a:solidFill>
                <a:srgbClr val="8E686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4EFE969-7690-1DBD-79FD-D04011BEA7D7}"/>
                </a:ext>
              </a:extLst>
            </p:cNvPr>
            <p:cNvSpPr txBox="1"/>
            <p:nvPr/>
          </p:nvSpPr>
          <p:spPr>
            <a:xfrm>
              <a:off x="7548075" y="4670042"/>
              <a:ext cx="861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165798"/>
                  </a:solidFill>
                </a:rPr>
                <a:t>sensor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8B34102-D33C-0AA9-F0ED-D0FEB6DC3CD6}"/>
                </a:ext>
              </a:extLst>
            </p:cNvPr>
            <p:cNvSpPr txBox="1"/>
            <p:nvPr/>
          </p:nvSpPr>
          <p:spPr>
            <a:xfrm>
              <a:off x="9351671" y="4133405"/>
              <a:ext cx="1210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B08178"/>
                  </a:solidFill>
                </a:rPr>
                <a:t>correction</a:t>
              </a: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F72EE0C4-0218-BCC4-0CEF-8F8714837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41215" r="427"/>
            <a:stretch>
              <a:fillRect/>
            </a:stretch>
          </p:blipFill>
          <p:spPr>
            <a:xfrm>
              <a:off x="7175500" y="1887306"/>
              <a:ext cx="3909699" cy="1327189"/>
            </a:xfrm>
            <a:prstGeom prst="roundRect">
              <a:avLst>
                <a:gd name="adj" fmla="val 10786"/>
              </a:avLst>
            </a:prstGeom>
            <a:ln w="3175">
              <a:noFill/>
            </a:ln>
            <a:effectLst>
              <a:outerShdw blurRad="127000" sx="104000" sy="104000" algn="ctr" rotWithShape="0">
                <a:prstClr val="black">
                  <a:alpha val="21000"/>
                </a:prstClr>
              </a:outerShdw>
            </a:effectLst>
          </p:spPr>
        </p:pic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91A8455-CCA0-BC0F-4F23-3666FF0B53F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213443" y="641774"/>
              <a:ext cx="1381279" cy="1828800"/>
              <a:chOff x="518970" y="3627016"/>
              <a:chExt cx="1797156" cy="2379414"/>
            </a:xfrm>
          </p:grpSpPr>
          <p:sp>
            <p:nvSpPr>
              <p:cNvPr id="61" name="Rounded Rectangle 60">
                <a:extLst>
                  <a:ext uri="{FF2B5EF4-FFF2-40B4-BE49-F238E27FC236}">
                    <a16:creationId xmlns:a16="http://schemas.microsoft.com/office/drawing/2014/main" id="{687D6268-A447-BFB2-F6A6-1EC29EE01E77}"/>
                  </a:ext>
                </a:extLst>
              </p:cNvPr>
              <p:cNvSpPr/>
              <p:nvPr/>
            </p:nvSpPr>
            <p:spPr>
              <a:xfrm>
                <a:off x="518970" y="3627016"/>
                <a:ext cx="1797156" cy="237941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16579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>
                  <a:solidFill>
                    <a:srgbClr val="E0A296"/>
                  </a:solidFill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FCA909E-5FBF-8A68-E758-1E7FCEFBF17D}"/>
                  </a:ext>
                </a:extLst>
              </p:cNvPr>
              <p:cNvSpPr txBox="1"/>
              <p:nvPr/>
            </p:nvSpPr>
            <p:spPr>
              <a:xfrm>
                <a:off x="855216" y="3717085"/>
                <a:ext cx="1123908" cy="600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rgbClr val="165798"/>
                    </a:solidFill>
                  </a:rPr>
                  <a:t>Simulated</a:t>
                </a:r>
              </a:p>
              <a:p>
                <a:pPr algn="ctr"/>
                <a:r>
                  <a:rPr lang="en-US" sz="1200">
                    <a:solidFill>
                      <a:srgbClr val="165798"/>
                    </a:solidFill>
                  </a:rPr>
                  <a:t>Physics</a:t>
                </a:r>
                <a:endParaRPr lang="en-NL" sz="1200">
                  <a:solidFill>
                    <a:srgbClr val="165798"/>
                  </a:solidFill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928C006-CEF7-FC16-BF93-750D06E976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2239" y="5433691"/>
            <a:ext cx="1199430" cy="11994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4F333C-B34F-69EC-AF9C-89F44DB2C0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6440" y="5433691"/>
            <a:ext cx="1199430" cy="1199430"/>
          </a:xfrm>
          <a:prstGeom prst="rect">
            <a:avLst/>
          </a:prstGeom>
        </p:spPr>
      </p:pic>
      <p:pic>
        <p:nvPicPr>
          <p:cNvPr id="10" name="Picture 9" descr="A colorful lines on a white background&#10;&#10;AI-generated content may be incorrect.">
            <a:extLst>
              <a:ext uri="{FF2B5EF4-FFF2-40B4-BE49-F238E27FC236}">
                <a16:creationId xmlns:a16="http://schemas.microsoft.com/office/drawing/2014/main" id="{58F3ED54-F937-CE2D-0CAE-E4D452A06E3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alphaModFix amt="97000"/>
          </a:blip>
          <a:srcRect l="6237" t="5811" r="8750" b="-1"/>
          <a:stretch>
            <a:fillRect/>
          </a:stretch>
        </p:blipFill>
        <p:spPr>
          <a:xfrm>
            <a:off x="10353815" y="1129310"/>
            <a:ext cx="1110429" cy="123031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0C3C73A-5705-8813-3B4C-B558B18731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57239" y="1510075"/>
            <a:ext cx="863826" cy="285548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F8E6AE-A25B-0A08-5993-7DE137C44319}"/>
              </a:ext>
            </a:extLst>
          </p:cNvPr>
          <p:cNvCxnSpPr>
            <a:cxnSpLocks/>
          </p:cNvCxnSpPr>
          <p:nvPr/>
        </p:nvCxnSpPr>
        <p:spPr>
          <a:xfrm>
            <a:off x="5578997" y="2919481"/>
            <a:ext cx="82131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45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AE23E27-4235-8CDA-03A7-201600783207}"/>
              </a:ext>
            </a:extLst>
          </p:cNvPr>
          <p:cNvSpPr/>
          <p:nvPr/>
        </p:nvSpPr>
        <p:spPr>
          <a:xfrm>
            <a:off x="6047344" y="1137856"/>
            <a:ext cx="5570096" cy="54828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3B17884-D83C-95E6-4CB3-FB60BDFAC70C}"/>
              </a:ext>
            </a:extLst>
          </p:cNvPr>
          <p:cNvSpPr/>
          <p:nvPr/>
        </p:nvSpPr>
        <p:spPr>
          <a:xfrm>
            <a:off x="381965" y="4343781"/>
            <a:ext cx="4942390" cy="219588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DA5800C-AED3-F038-0E3B-A09EC1FB4BC9}"/>
              </a:ext>
            </a:extLst>
          </p:cNvPr>
          <p:cNvSpPr/>
          <p:nvPr/>
        </p:nvSpPr>
        <p:spPr>
          <a:xfrm>
            <a:off x="381965" y="1145894"/>
            <a:ext cx="4942390" cy="299784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169FF-B710-0F37-9C61-2AC29190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55"/>
            <a:ext cx="10515600" cy="82014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Intermezzo: Bayesian Inference vs Variational Inference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34CED7-29D8-D1A1-7DB8-91340554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9407" y="6350935"/>
            <a:ext cx="392575" cy="365125"/>
          </a:xfrm>
        </p:spPr>
        <p:txBody>
          <a:bodyPr/>
          <a:lstStyle/>
          <a:p>
            <a:fld id="{179F0A8B-17BC-3448-AF3F-C2704C45AA7C}" type="slidenum">
              <a:rPr lang="en-US" smtClean="0"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C317C-6ED0-EA27-020B-48A8ACFF4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303" y="1345938"/>
            <a:ext cx="3062468" cy="3928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AD8DD5-7109-D680-D50E-45793C745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31" y="2702503"/>
            <a:ext cx="4209716" cy="11086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D8077E-D5A1-E754-0BF9-DE5C29C1E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571" y="5026416"/>
            <a:ext cx="3731847" cy="12925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210912-19B2-05F3-B676-ADFB8FD12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429" y="2013633"/>
            <a:ext cx="4980629" cy="2207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0255E4-11B3-F3B3-4201-E32C882987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7825" y="5219776"/>
            <a:ext cx="4234552" cy="10679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353545-7D8C-9108-16CE-0F8145BEDBA6}"/>
              </a:ext>
            </a:extLst>
          </p:cNvPr>
          <p:cNvSpPr txBox="1"/>
          <p:nvPr/>
        </p:nvSpPr>
        <p:spPr>
          <a:xfrm>
            <a:off x="645958" y="1331784"/>
            <a:ext cx="107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A2A8C1-D508-1DD7-0A88-AFA5C6CAAE6F}"/>
              </a:ext>
            </a:extLst>
          </p:cNvPr>
          <p:cNvSpPr txBox="1"/>
          <p:nvPr/>
        </p:nvSpPr>
        <p:spPr>
          <a:xfrm>
            <a:off x="1553380" y="2107310"/>
            <a:ext cx="2846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Bayesian inference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759477-4E2F-D8DE-EAA8-872A7F1A4182}"/>
              </a:ext>
            </a:extLst>
          </p:cNvPr>
          <p:cNvSpPr txBox="1"/>
          <p:nvPr/>
        </p:nvSpPr>
        <p:spPr>
          <a:xfrm>
            <a:off x="1359806" y="4408337"/>
            <a:ext cx="3073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Executing Bayes rule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A7A451-8035-F35E-2321-1E3A68F5EF10}"/>
              </a:ext>
            </a:extLst>
          </p:cNvPr>
          <p:cNvSpPr txBox="1"/>
          <p:nvPr/>
        </p:nvSpPr>
        <p:spPr>
          <a:xfrm>
            <a:off x="6633188" y="4489390"/>
            <a:ext cx="4529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Executing Variational Inference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37FD1F-913E-4456-88D4-D61C0EB06BAD}"/>
              </a:ext>
            </a:extLst>
          </p:cNvPr>
          <p:cNvSpPr txBox="1"/>
          <p:nvPr/>
        </p:nvSpPr>
        <p:spPr>
          <a:xfrm>
            <a:off x="7139011" y="1393476"/>
            <a:ext cx="3386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Variational Free Energy</a:t>
            </a:r>
          </a:p>
        </p:txBody>
      </p:sp>
    </p:spTree>
    <p:extLst>
      <p:ext uri="{BB962C8B-B14F-4D97-AF65-F5344CB8AC3E}">
        <p14:creationId xmlns:p14="http://schemas.microsoft.com/office/powerpoint/2010/main" val="654297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4E60FB26-88C4-416A-6C98-74B5FFB384BC}"/>
              </a:ext>
            </a:extLst>
          </p:cNvPr>
          <p:cNvGrpSpPr/>
          <p:nvPr/>
        </p:nvGrpSpPr>
        <p:grpSpPr>
          <a:xfrm>
            <a:off x="417365" y="1590445"/>
            <a:ext cx="5191532" cy="4658932"/>
            <a:chOff x="5540790" y="904934"/>
            <a:chExt cx="6205805" cy="5732835"/>
          </a:xfrm>
        </p:grpSpPr>
        <p:sp>
          <p:nvSpPr>
            <p:cNvPr id="237" name="Circle"/>
            <p:cNvSpPr/>
            <p:nvPr/>
          </p:nvSpPr>
          <p:spPr>
            <a:xfrm>
              <a:off x="8105583" y="3012312"/>
              <a:ext cx="1289263" cy="12892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50800">
              <a:solidFill>
                <a:srgbClr val="333333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400" dirty="0"/>
            </a:p>
          </p:txBody>
        </p:sp>
        <p:pic>
          <p:nvPicPr>
            <p:cNvPr id="222" name="unknown.png" descr="unknown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2828" y="1112820"/>
              <a:ext cx="993685" cy="995592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23" name="unknown.png" descr="unknown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12527" y="5273727"/>
              <a:ext cx="775886" cy="777989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24" name="Circle"/>
            <p:cNvSpPr/>
            <p:nvPr/>
          </p:nvSpPr>
          <p:spPr>
            <a:xfrm>
              <a:off x="6805039" y="914459"/>
              <a:ext cx="1289263" cy="1289263"/>
            </a:xfrm>
            <a:prstGeom prst="ellipse">
              <a:avLst/>
            </a:prstGeom>
            <a:ln w="50800">
              <a:solidFill>
                <a:srgbClr val="333333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400"/>
            </a:p>
          </p:txBody>
        </p:sp>
        <p:sp>
          <p:nvSpPr>
            <p:cNvPr id="225" name="Model scope"/>
            <p:cNvSpPr txBox="1"/>
            <p:nvPr/>
          </p:nvSpPr>
          <p:spPr>
            <a:xfrm>
              <a:off x="6457044" y="2233280"/>
              <a:ext cx="1354742" cy="3282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anchor="ctr">
              <a:spAutoFit/>
            </a:bodyPr>
            <a:lstStyle>
              <a:lvl1pPr>
                <a:defRPr sz="3000" b="1">
                  <a:solidFill>
                    <a:srgbClr val="333333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1400" dirty="0"/>
                <a:t>Model scope</a:t>
              </a:r>
            </a:p>
          </p:txBody>
        </p:sp>
        <p:sp>
          <p:nvSpPr>
            <p:cNvPr id="226" name="Circle"/>
            <p:cNvSpPr/>
            <p:nvPr/>
          </p:nvSpPr>
          <p:spPr>
            <a:xfrm>
              <a:off x="9395476" y="5012683"/>
              <a:ext cx="1289263" cy="1289263"/>
            </a:xfrm>
            <a:prstGeom prst="ellipse">
              <a:avLst/>
            </a:prstGeom>
            <a:ln w="50800">
              <a:solidFill>
                <a:srgbClr val="333333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400"/>
            </a:p>
          </p:txBody>
        </p:sp>
        <p:sp>
          <p:nvSpPr>
            <p:cNvPr id="227" name="Real-time"/>
            <p:cNvSpPr txBox="1"/>
            <p:nvPr/>
          </p:nvSpPr>
          <p:spPr>
            <a:xfrm>
              <a:off x="9582766" y="6287888"/>
              <a:ext cx="1025158" cy="3282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anchor="ctr">
              <a:spAutoFit/>
            </a:bodyPr>
            <a:lstStyle>
              <a:lvl1pPr>
                <a:defRPr sz="3000" b="1">
                  <a:solidFill>
                    <a:srgbClr val="333333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1400" dirty="0"/>
                <a:t>Real-time</a:t>
              </a:r>
            </a:p>
          </p:txBody>
        </p:sp>
        <p:sp>
          <p:nvSpPr>
            <p:cNvPr id="228" name="Circle"/>
            <p:cNvSpPr/>
            <p:nvPr/>
          </p:nvSpPr>
          <p:spPr>
            <a:xfrm>
              <a:off x="9332702" y="904934"/>
              <a:ext cx="1289263" cy="1289263"/>
            </a:xfrm>
            <a:prstGeom prst="ellipse">
              <a:avLst/>
            </a:prstGeom>
            <a:ln w="50800">
              <a:solidFill>
                <a:srgbClr val="333333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400"/>
            </a:p>
          </p:txBody>
        </p:sp>
        <p:sp>
          <p:nvSpPr>
            <p:cNvPr id="229" name="Low-power"/>
            <p:cNvSpPr txBox="1"/>
            <p:nvPr/>
          </p:nvSpPr>
          <p:spPr>
            <a:xfrm>
              <a:off x="9800166" y="2190198"/>
              <a:ext cx="1189950" cy="3282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anchor="ctr">
              <a:spAutoFit/>
            </a:bodyPr>
            <a:lstStyle>
              <a:lvl1pPr>
                <a:defRPr sz="3000" b="1">
                  <a:solidFill>
                    <a:srgbClr val="333333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1400" dirty="0"/>
                <a:t>Low-power</a:t>
              </a:r>
            </a:p>
          </p:txBody>
        </p:sp>
        <p:sp>
          <p:nvSpPr>
            <p:cNvPr id="230" name="Circle"/>
            <p:cNvSpPr>
              <a:spLocks noChangeAspect="1"/>
            </p:cNvSpPr>
            <p:nvPr/>
          </p:nvSpPr>
          <p:spPr>
            <a:xfrm>
              <a:off x="6855839" y="5018090"/>
              <a:ext cx="1289263" cy="1289263"/>
            </a:xfrm>
            <a:prstGeom prst="ellipse">
              <a:avLst/>
            </a:prstGeom>
            <a:ln w="50800">
              <a:solidFill>
                <a:srgbClr val="333333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400"/>
            </a:p>
          </p:txBody>
        </p:sp>
        <p:sp>
          <p:nvSpPr>
            <p:cNvPr id="231" name="Performance"/>
            <p:cNvSpPr txBox="1"/>
            <p:nvPr/>
          </p:nvSpPr>
          <p:spPr>
            <a:xfrm>
              <a:off x="6876079" y="6309544"/>
              <a:ext cx="1371987" cy="3282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anchor="ctr">
              <a:spAutoFit/>
            </a:bodyPr>
            <a:lstStyle>
              <a:lvl1pPr>
                <a:defRPr sz="3000" b="1">
                  <a:solidFill>
                    <a:srgbClr val="333333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1400" dirty="0"/>
                <a:t>Performance</a:t>
              </a:r>
            </a:p>
          </p:txBody>
        </p:sp>
        <p:sp>
          <p:nvSpPr>
            <p:cNvPr id="232" name="Circle"/>
            <p:cNvSpPr/>
            <p:nvPr/>
          </p:nvSpPr>
          <p:spPr>
            <a:xfrm>
              <a:off x="10445935" y="2930111"/>
              <a:ext cx="1289263" cy="1289263"/>
            </a:xfrm>
            <a:prstGeom prst="ellipse">
              <a:avLst/>
            </a:prstGeom>
            <a:ln w="50800">
              <a:solidFill>
                <a:srgbClr val="333333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400"/>
            </a:p>
          </p:txBody>
        </p:sp>
        <p:sp>
          <p:nvSpPr>
            <p:cNvPr id="233" name="Adaptivity"/>
            <p:cNvSpPr txBox="1"/>
            <p:nvPr/>
          </p:nvSpPr>
          <p:spPr>
            <a:xfrm>
              <a:off x="10652454" y="4230502"/>
              <a:ext cx="1094141" cy="3282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anchor="ctr">
              <a:spAutoFit/>
            </a:bodyPr>
            <a:lstStyle>
              <a:lvl1pPr>
                <a:defRPr sz="3000" b="1">
                  <a:solidFill>
                    <a:srgbClr val="333333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1400" dirty="0"/>
                <a:t>Adaptivity</a:t>
              </a:r>
            </a:p>
          </p:txBody>
        </p:sp>
        <p:sp>
          <p:nvSpPr>
            <p:cNvPr id="234" name="Circle"/>
            <p:cNvSpPr/>
            <p:nvPr/>
          </p:nvSpPr>
          <p:spPr>
            <a:xfrm>
              <a:off x="5710592" y="2945986"/>
              <a:ext cx="1289263" cy="1289263"/>
            </a:xfrm>
            <a:prstGeom prst="ellipse">
              <a:avLst/>
            </a:prstGeom>
            <a:ln w="50800">
              <a:solidFill>
                <a:srgbClr val="333333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400"/>
            </a:p>
          </p:txBody>
        </p:sp>
        <p:sp>
          <p:nvSpPr>
            <p:cNvPr id="235" name="User-friendly"/>
            <p:cNvSpPr txBox="1"/>
            <p:nvPr/>
          </p:nvSpPr>
          <p:spPr>
            <a:xfrm>
              <a:off x="5709832" y="4270333"/>
              <a:ext cx="1381569" cy="3282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anchor="ctr">
              <a:spAutoFit/>
            </a:bodyPr>
            <a:lstStyle>
              <a:lvl1pPr>
                <a:defRPr sz="3000" b="1">
                  <a:solidFill>
                    <a:srgbClr val="333333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1400" dirty="0"/>
                <a:t>User-friendly</a:t>
              </a:r>
            </a:p>
          </p:txBody>
        </p:sp>
        <p:sp>
          <p:nvSpPr>
            <p:cNvPr id="238" name="Line"/>
            <p:cNvSpPr/>
            <p:nvPr/>
          </p:nvSpPr>
          <p:spPr>
            <a:xfrm>
              <a:off x="6977090" y="3590617"/>
              <a:ext cx="1114284" cy="1"/>
            </a:xfrm>
            <a:prstGeom prst="line">
              <a:avLst/>
            </a:prstGeom>
            <a:ln w="50800">
              <a:solidFill>
                <a:srgbClr val="00000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1400"/>
            </a:p>
          </p:txBody>
        </p:sp>
        <p:sp>
          <p:nvSpPr>
            <p:cNvPr id="239" name="Line"/>
            <p:cNvSpPr/>
            <p:nvPr/>
          </p:nvSpPr>
          <p:spPr>
            <a:xfrm>
              <a:off x="7766607" y="2126761"/>
              <a:ext cx="649533" cy="984318"/>
            </a:xfrm>
            <a:prstGeom prst="line">
              <a:avLst/>
            </a:prstGeom>
            <a:ln w="50800">
              <a:solidFill>
                <a:srgbClr val="00000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1400" dirty="0"/>
            </a:p>
          </p:txBody>
        </p:sp>
        <p:sp>
          <p:nvSpPr>
            <p:cNvPr id="240" name="Line"/>
            <p:cNvSpPr/>
            <p:nvPr/>
          </p:nvSpPr>
          <p:spPr>
            <a:xfrm flipH="1">
              <a:off x="9084289" y="2126761"/>
              <a:ext cx="649343" cy="984318"/>
            </a:xfrm>
            <a:prstGeom prst="line">
              <a:avLst/>
            </a:prstGeom>
            <a:ln w="50800">
              <a:solidFill>
                <a:srgbClr val="00000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1400"/>
            </a:p>
          </p:txBody>
        </p:sp>
        <p:sp>
          <p:nvSpPr>
            <p:cNvPr id="241" name="Line"/>
            <p:cNvSpPr/>
            <p:nvPr/>
          </p:nvSpPr>
          <p:spPr>
            <a:xfrm flipV="1">
              <a:off x="9409056" y="3588083"/>
              <a:ext cx="1036879" cy="2534"/>
            </a:xfrm>
            <a:prstGeom prst="line">
              <a:avLst/>
            </a:prstGeom>
            <a:ln w="50800">
              <a:solidFill>
                <a:srgbClr val="00000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1400"/>
            </a:p>
          </p:txBody>
        </p:sp>
        <p:sp>
          <p:nvSpPr>
            <p:cNvPr id="242" name="Line"/>
            <p:cNvSpPr/>
            <p:nvPr/>
          </p:nvSpPr>
          <p:spPr>
            <a:xfrm flipH="1">
              <a:off x="7821542" y="4230804"/>
              <a:ext cx="601253" cy="855946"/>
            </a:xfrm>
            <a:prstGeom prst="line">
              <a:avLst/>
            </a:prstGeom>
            <a:ln w="50800">
              <a:solidFill>
                <a:srgbClr val="00000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1400"/>
            </a:p>
          </p:txBody>
        </p:sp>
        <p:sp>
          <p:nvSpPr>
            <p:cNvPr id="243" name="Line"/>
            <p:cNvSpPr/>
            <p:nvPr/>
          </p:nvSpPr>
          <p:spPr>
            <a:xfrm>
              <a:off x="9131703" y="4184300"/>
              <a:ext cx="668462" cy="902450"/>
            </a:xfrm>
            <a:prstGeom prst="line">
              <a:avLst/>
            </a:prstGeom>
            <a:ln w="50800">
              <a:solidFill>
                <a:srgbClr val="00000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1400" dirty="0"/>
            </a:p>
          </p:txBody>
        </p:sp>
        <p:pic>
          <p:nvPicPr>
            <p:cNvPr id="246" name="unknown.jpeg" descr="unknown.jpeg"/>
            <p:cNvPicPr>
              <a:picLocks noChangeAspect="1"/>
            </p:cNvPicPr>
            <p:nvPr/>
          </p:nvPicPr>
          <p:blipFill>
            <a:blip r:embed="rId5"/>
            <a:srcRect l="29428" t="11604" r="29686" b="11486"/>
            <a:stretch>
              <a:fillRect/>
            </a:stretch>
          </p:blipFill>
          <p:spPr>
            <a:xfrm>
              <a:off x="9712705" y="1061295"/>
              <a:ext cx="529258" cy="995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1" h="21595" extrusionOk="0">
                  <a:moveTo>
                    <a:pt x="15947" y="0"/>
                  </a:moveTo>
                  <a:cubicBezTo>
                    <a:pt x="15936" y="-2"/>
                    <a:pt x="15892" y="14"/>
                    <a:pt x="15802" y="52"/>
                  </a:cubicBezTo>
                  <a:cubicBezTo>
                    <a:pt x="15637" y="121"/>
                    <a:pt x="14510" y="140"/>
                    <a:pt x="10723" y="125"/>
                  </a:cubicBezTo>
                  <a:lnTo>
                    <a:pt x="5854" y="104"/>
                  </a:lnTo>
                  <a:lnTo>
                    <a:pt x="5870" y="749"/>
                  </a:lnTo>
                  <a:cubicBezTo>
                    <a:pt x="5881" y="1104"/>
                    <a:pt x="5860" y="1409"/>
                    <a:pt x="5822" y="1429"/>
                  </a:cubicBezTo>
                  <a:cubicBezTo>
                    <a:pt x="5783" y="1450"/>
                    <a:pt x="5757" y="1505"/>
                    <a:pt x="5757" y="1550"/>
                  </a:cubicBezTo>
                  <a:cubicBezTo>
                    <a:pt x="5757" y="1607"/>
                    <a:pt x="5121" y="1642"/>
                    <a:pt x="3613" y="1666"/>
                  </a:cubicBezTo>
                  <a:cubicBezTo>
                    <a:pt x="1909" y="1694"/>
                    <a:pt x="1386" y="1725"/>
                    <a:pt x="1057" y="1821"/>
                  </a:cubicBezTo>
                  <a:cubicBezTo>
                    <a:pt x="830" y="1887"/>
                    <a:pt x="603" y="1971"/>
                    <a:pt x="557" y="2010"/>
                  </a:cubicBezTo>
                  <a:cubicBezTo>
                    <a:pt x="512" y="2049"/>
                    <a:pt x="422" y="2062"/>
                    <a:pt x="356" y="2040"/>
                  </a:cubicBezTo>
                  <a:cubicBezTo>
                    <a:pt x="289" y="2019"/>
                    <a:pt x="249" y="2073"/>
                    <a:pt x="267" y="2161"/>
                  </a:cubicBezTo>
                  <a:cubicBezTo>
                    <a:pt x="289" y="2269"/>
                    <a:pt x="238" y="2317"/>
                    <a:pt x="114" y="2303"/>
                  </a:cubicBezTo>
                  <a:cubicBezTo>
                    <a:pt x="42" y="2295"/>
                    <a:pt x="6" y="2292"/>
                    <a:pt x="1" y="2303"/>
                  </a:cubicBezTo>
                  <a:cubicBezTo>
                    <a:pt x="-4" y="2315"/>
                    <a:pt x="23" y="2338"/>
                    <a:pt x="82" y="2376"/>
                  </a:cubicBezTo>
                  <a:cubicBezTo>
                    <a:pt x="284" y="2506"/>
                    <a:pt x="308" y="20772"/>
                    <a:pt x="106" y="20902"/>
                  </a:cubicBezTo>
                  <a:cubicBezTo>
                    <a:pt x="25" y="20954"/>
                    <a:pt x="15" y="21051"/>
                    <a:pt x="82" y="21147"/>
                  </a:cubicBezTo>
                  <a:cubicBezTo>
                    <a:pt x="177" y="21285"/>
                    <a:pt x="201" y="21289"/>
                    <a:pt x="275" y="21186"/>
                  </a:cubicBezTo>
                  <a:cubicBezTo>
                    <a:pt x="352" y="21079"/>
                    <a:pt x="409" y="21087"/>
                    <a:pt x="799" y="21246"/>
                  </a:cubicBezTo>
                  <a:lnTo>
                    <a:pt x="1235" y="21423"/>
                  </a:lnTo>
                  <a:lnTo>
                    <a:pt x="10659" y="21427"/>
                  </a:lnTo>
                  <a:cubicBezTo>
                    <a:pt x="18739" y="21431"/>
                    <a:pt x="20110" y="21444"/>
                    <a:pt x="20244" y="21530"/>
                  </a:cubicBezTo>
                  <a:cubicBezTo>
                    <a:pt x="20304" y="21569"/>
                    <a:pt x="20353" y="21592"/>
                    <a:pt x="20405" y="21595"/>
                  </a:cubicBezTo>
                  <a:cubicBezTo>
                    <a:pt x="20457" y="21598"/>
                    <a:pt x="20505" y="21583"/>
                    <a:pt x="20574" y="21552"/>
                  </a:cubicBezTo>
                  <a:cubicBezTo>
                    <a:pt x="20674" y="21508"/>
                    <a:pt x="20732" y="21455"/>
                    <a:pt x="20695" y="21436"/>
                  </a:cubicBezTo>
                  <a:cubicBezTo>
                    <a:pt x="20580" y="21374"/>
                    <a:pt x="20897" y="21220"/>
                    <a:pt x="21066" y="21255"/>
                  </a:cubicBezTo>
                  <a:cubicBezTo>
                    <a:pt x="21256" y="21294"/>
                    <a:pt x="21596" y="20983"/>
                    <a:pt x="21477" y="20880"/>
                  </a:cubicBezTo>
                  <a:cubicBezTo>
                    <a:pt x="21375" y="20792"/>
                    <a:pt x="21367" y="2301"/>
                    <a:pt x="21469" y="2213"/>
                  </a:cubicBezTo>
                  <a:cubicBezTo>
                    <a:pt x="21510" y="2177"/>
                    <a:pt x="21454" y="2148"/>
                    <a:pt x="21340" y="2148"/>
                  </a:cubicBezTo>
                  <a:cubicBezTo>
                    <a:pt x="21227" y="2148"/>
                    <a:pt x="21100" y="2103"/>
                    <a:pt x="21058" y="2045"/>
                  </a:cubicBezTo>
                  <a:cubicBezTo>
                    <a:pt x="20870" y="1783"/>
                    <a:pt x="20238" y="1703"/>
                    <a:pt x="18027" y="1666"/>
                  </a:cubicBezTo>
                  <a:lnTo>
                    <a:pt x="15882" y="1632"/>
                  </a:lnTo>
                  <a:lnTo>
                    <a:pt x="15810" y="900"/>
                  </a:lnTo>
                  <a:cubicBezTo>
                    <a:pt x="15763" y="434"/>
                    <a:pt x="15786" y="136"/>
                    <a:pt x="15874" y="69"/>
                  </a:cubicBezTo>
                  <a:cubicBezTo>
                    <a:pt x="15933" y="25"/>
                    <a:pt x="15958" y="3"/>
                    <a:pt x="15947" y="0"/>
                  </a:cubicBezTo>
                  <a:close/>
                </a:path>
              </a:pathLst>
            </a:custGeom>
            <a:ln w="12700">
              <a:miter lim="400000"/>
            </a:ln>
          </p:spPr>
        </p:pic>
        <p:sp>
          <p:nvSpPr>
            <p:cNvPr id="247" name="Text"/>
            <p:cNvSpPr txBox="1"/>
            <p:nvPr/>
          </p:nvSpPr>
          <p:spPr>
            <a:xfrm>
              <a:off x="5540790" y="3099500"/>
              <a:ext cx="114971" cy="3282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anchor="ctr">
              <a:spAutoFit/>
            </a:bodyPr>
            <a:lstStyle>
              <a:lvl1pPr algn="l" defTabSz="457200">
                <a:defRPr sz="1200"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sz="1400"/>
                <a:t> </a:t>
              </a:r>
            </a:p>
          </p:txBody>
        </p:sp>
        <p:pic>
          <p:nvPicPr>
            <p:cNvPr id="248" name="unknown.png" descr="unknown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47641" y="3048891"/>
              <a:ext cx="1085851" cy="108345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49" name="Text"/>
            <p:cNvSpPr txBox="1"/>
            <p:nvPr/>
          </p:nvSpPr>
          <p:spPr>
            <a:xfrm>
              <a:off x="7352197" y="1910966"/>
              <a:ext cx="114971" cy="3282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anchor="ctr">
              <a:spAutoFit/>
            </a:bodyPr>
            <a:lstStyle>
              <a:lvl1pPr algn="l" defTabSz="457200">
                <a:defRPr sz="1200"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sz="1400"/>
                <a:t> </a:t>
              </a:r>
            </a:p>
          </p:txBody>
        </p:sp>
        <p:grpSp>
          <p:nvGrpSpPr>
            <p:cNvPr id="253" name="Group"/>
            <p:cNvGrpSpPr/>
            <p:nvPr/>
          </p:nvGrpSpPr>
          <p:grpSpPr>
            <a:xfrm>
              <a:off x="5813496" y="3033016"/>
              <a:ext cx="1083454" cy="1083454"/>
              <a:chOff x="0" y="0"/>
              <a:chExt cx="2166905" cy="2166905"/>
            </a:xfrm>
          </p:grpSpPr>
          <p:pic>
            <p:nvPicPr>
              <p:cNvPr id="251" name="unknown.png" descr="unknown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166906" cy="216690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55" name="Connection Line"/>
              <p:cNvSpPr/>
              <p:nvPr/>
            </p:nvSpPr>
            <p:spPr>
              <a:xfrm>
                <a:off x="878121" y="918080"/>
                <a:ext cx="408974" cy="1045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2" extrusionOk="0">
                    <a:moveTo>
                      <a:pt x="21600" y="0"/>
                    </a:moveTo>
                    <a:cubicBezTo>
                      <a:pt x="15217" y="21342"/>
                      <a:pt x="8017" y="21600"/>
                      <a:pt x="0" y="773"/>
                    </a:cubicBezTo>
                  </a:path>
                </a:pathLst>
              </a:cu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/>
              <a:lstStyle/>
              <a:p>
                <a:endParaRPr sz="1400"/>
              </a:p>
            </p:txBody>
          </p:sp>
        </p:grpSp>
        <p:pic>
          <p:nvPicPr>
            <p:cNvPr id="254" name="unknown.png" descr="unknown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17865" y="5146673"/>
              <a:ext cx="993685" cy="995883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24429D0-FB50-377D-DBF7-4355EEB2F155}"/>
              </a:ext>
            </a:extLst>
          </p:cNvPr>
          <p:cNvSpPr txBox="1">
            <a:spLocks/>
          </p:cNvSpPr>
          <p:nvPr/>
        </p:nvSpPr>
        <p:spPr>
          <a:xfrm>
            <a:off x="734580" y="243278"/>
            <a:ext cx="10722839" cy="418047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NL" sz="3600">
                <a:solidFill>
                  <a:srgbClr val="0070C0"/>
                </a:solidFill>
                <a:latin typeface="+mj-lt"/>
              </a:rPr>
              <a:t>Software </a:t>
            </a:r>
            <a:r>
              <a:rPr lang="nl-NL" sz="3600" dirty="0">
                <a:solidFill>
                  <a:srgbClr val="0070C0"/>
                </a:solidFill>
                <a:latin typeface="+mj-lt"/>
              </a:rPr>
              <a:t>f</a:t>
            </a:r>
            <a:r>
              <a:rPr lang="en-NL" sz="3600">
                <a:solidFill>
                  <a:srgbClr val="0070C0"/>
                </a:solidFill>
                <a:latin typeface="+mj-lt"/>
              </a:rPr>
              <a:t>or Automated </a:t>
            </a:r>
            <a:r>
              <a:rPr lang="en-NL" sz="3600" dirty="0">
                <a:solidFill>
                  <a:srgbClr val="0070C0"/>
                </a:solidFill>
                <a:latin typeface="+mj-lt"/>
              </a:rPr>
              <a:t>Free </a:t>
            </a:r>
            <a:r>
              <a:rPr lang="en-NL" sz="3600">
                <a:solidFill>
                  <a:srgbClr val="0070C0"/>
                </a:solidFill>
                <a:latin typeface="+mj-lt"/>
              </a:rPr>
              <a:t>Energy Minimization</a:t>
            </a:r>
            <a:r>
              <a:rPr lang="nl-NL" sz="3600" dirty="0">
                <a:solidFill>
                  <a:srgbClr val="0070C0"/>
                </a:solidFill>
                <a:latin typeface="+mj-lt"/>
              </a:rPr>
              <a:t>?</a:t>
            </a:r>
            <a:endParaRPr lang="en-NL" sz="3600" dirty="0">
              <a:solidFill>
                <a:srgbClr val="0070C0"/>
              </a:solidFill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NL" dirty="0"/>
          </a:p>
          <a:p>
            <a:pPr marL="0" indent="0">
              <a:buFont typeface="Arial" panose="020B0604020202020204" pitchFamily="34" charset="0"/>
              <a:buNone/>
            </a:pPr>
            <a:endParaRPr lang="en-NL" dirty="0"/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C7ABEFE5-B8E2-CDFB-FD28-C8C1C86B53D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82375" y="12458699"/>
            <a:ext cx="364745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89BEC58-69C4-90B1-8FA8-3BEF89224687}"/>
              </a:ext>
            </a:extLst>
          </p:cNvPr>
          <p:cNvGrpSpPr/>
          <p:nvPr/>
        </p:nvGrpSpPr>
        <p:grpSpPr>
          <a:xfrm>
            <a:off x="7353300" y="1109543"/>
            <a:ext cx="4104119" cy="5268769"/>
            <a:chOff x="7353300" y="1109543"/>
            <a:chExt cx="4104119" cy="5268769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AE43FDC7-63F0-2CE9-2C50-75EB82DDC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43766" y="1739206"/>
              <a:ext cx="960943" cy="815430"/>
            </a:xfrm>
            <a:prstGeom prst="rect">
              <a:avLst/>
            </a:prstGeom>
            <a:ln w="19050">
              <a:noFill/>
              <a:miter lim="400000"/>
            </a:ln>
          </p:spPr>
        </p:pic>
        <p:sp>
          <p:nvSpPr>
            <p:cNvPr id="7" name="Pyro / NumPyro">
              <a:extLst>
                <a:ext uri="{FF2B5EF4-FFF2-40B4-BE49-F238E27FC236}">
                  <a16:creationId xmlns:a16="http://schemas.microsoft.com/office/drawing/2014/main" id="{02D3C09A-B95D-1B19-1383-50D2C4BB4C5B}"/>
                </a:ext>
              </a:extLst>
            </p:cNvPr>
            <p:cNvSpPr txBox="1"/>
            <p:nvPr/>
          </p:nvSpPr>
          <p:spPr>
            <a:xfrm>
              <a:off x="9114905" y="1832518"/>
              <a:ext cx="2093650" cy="471924"/>
            </a:xfrm>
            <a:prstGeom prst="rect">
              <a:avLst/>
            </a:prstGeom>
            <a:ln w="1905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 defTabSz="2438338">
                <a:spcBef>
                  <a:spcPts val="0"/>
                </a:spcBef>
                <a:defRPr sz="3600">
                  <a:solidFill>
                    <a:srgbClr val="333333"/>
                  </a:solidFill>
                  <a:latin typeface="Graphik-Medium"/>
                  <a:ea typeface="Graphik-Medium"/>
                  <a:cs typeface="Graphik-Medium"/>
                  <a:sym typeface="Graphik Medium"/>
                </a:defRPr>
              </a:lvl1pPr>
            </a:lstStyle>
            <a:p>
              <a:r>
                <a:rPr sz="2400" dirty="0">
                  <a:latin typeface="+mn-lt"/>
                </a:rPr>
                <a:t>Pyro / </a:t>
              </a:r>
              <a:r>
                <a:rPr sz="2400" dirty="0" err="1">
                  <a:latin typeface="+mn-lt"/>
                </a:rPr>
                <a:t>NumPyro</a:t>
              </a:r>
              <a:endParaRPr sz="2400" dirty="0">
                <a:latin typeface="+mn-lt"/>
              </a:endParaRPr>
            </a:p>
          </p:txBody>
        </p:sp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CFD47E5-8F67-3429-9335-ECDAC39A0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743067" y="2720104"/>
              <a:ext cx="1162341" cy="1162341"/>
            </a:xfrm>
            <a:prstGeom prst="rect">
              <a:avLst/>
            </a:prstGeom>
            <a:ln w="19050">
              <a:noFill/>
              <a:miter lim="400000"/>
            </a:ln>
          </p:spPr>
        </p:pic>
        <p:sp>
          <p:nvSpPr>
            <p:cNvPr id="10" name="Turing">
              <a:extLst>
                <a:ext uri="{FF2B5EF4-FFF2-40B4-BE49-F238E27FC236}">
                  <a16:creationId xmlns:a16="http://schemas.microsoft.com/office/drawing/2014/main" id="{5308CECD-ED6F-E2D8-7D2C-7EABC3FAF280}"/>
                </a:ext>
              </a:extLst>
            </p:cNvPr>
            <p:cNvSpPr txBox="1"/>
            <p:nvPr/>
          </p:nvSpPr>
          <p:spPr>
            <a:xfrm>
              <a:off x="9721642" y="3043091"/>
              <a:ext cx="880177" cy="471924"/>
            </a:xfrm>
            <a:prstGeom prst="rect">
              <a:avLst/>
            </a:prstGeom>
            <a:ln w="1905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 defTabSz="2438338">
                <a:spcBef>
                  <a:spcPts val="0"/>
                </a:spcBef>
                <a:defRPr sz="3600">
                  <a:solidFill>
                    <a:srgbClr val="333333"/>
                  </a:solidFill>
                  <a:latin typeface="Graphik-Medium"/>
                  <a:ea typeface="Graphik-Medium"/>
                  <a:cs typeface="Graphik-Medium"/>
                  <a:sym typeface="Graphik Medium"/>
                </a:defRPr>
              </a:lvl1pPr>
            </a:lstStyle>
            <a:p>
              <a:r>
                <a:rPr sz="2400" dirty="0">
                  <a:latin typeface="+mn-lt"/>
                </a:rPr>
                <a:t>Turing</a:t>
              </a:r>
            </a:p>
          </p:txBody>
        </p:sp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B809D10-9FDB-2E34-6569-100D2874A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65948"/>
            <a:stretch>
              <a:fillRect/>
            </a:stretch>
          </p:blipFill>
          <p:spPr>
            <a:xfrm>
              <a:off x="7837939" y="3997113"/>
              <a:ext cx="972597" cy="1018726"/>
            </a:xfrm>
            <a:prstGeom prst="rect">
              <a:avLst/>
            </a:prstGeom>
            <a:ln w="19050">
              <a:noFill/>
              <a:miter lim="400000"/>
            </a:ln>
          </p:spPr>
        </p:pic>
        <p:sp>
          <p:nvSpPr>
            <p:cNvPr id="13" name="PyMC3">
              <a:extLst>
                <a:ext uri="{FF2B5EF4-FFF2-40B4-BE49-F238E27FC236}">
                  <a16:creationId xmlns:a16="http://schemas.microsoft.com/office/drawing/2014/main" id="{9A9528B3-A560-3E1E-138D-FCE57FF95CCA}"/>
                </a:ext>
              </a:extLst>
            </p:cNvPr>
            <p:cNvSpPr txBox="1"/>
            <p:nvPr/>
          </p:nvSpPr>
          <p:spPr>
            <a:xfrm>
              <a:off x="9669512" y="4202864"/>
              <a:ext cx="984437" cy="471924"/>
            </a:xfrm>
            <a:prstGeom prst="rect">
              <a:avLst/>
            </a:prstGeom>
            <a:ln w="1905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 defTabSz="2438338">
                <a:spcBef>
                  <a:spcPts val="0"/>
                </a:spcBef>
                <a:defRPr sz="3600">
                  <a:solidFill>
                    <a:srgbClr val="333333"/>
                  </a:solidFill>
                  <a:latin typeface="Graphik-Medium"/>
                  <a:ea typeface="Graphik-Medium"/>
                  <a:cs typeface="Graphik-Medium"/>
                  <a:sym typeface="Graphik Medium"/>
                </a:defRPr>
              </a:lvl1pPr>
            </a:lstStyle>
            <a:p>
              <a:r>
                <a:rPr sz="2400" dirty="0">
                  <a:latin typeface="+mn-lt"/>
                </a:rPr>
                <a:t>PyMC3</a:t>
              </a:r>
            </a:p>
          </p:txBody>
        </p:sp>
        <p:sp>
          <p:nvSpPr>
            <p:cNvPr id="21" name="ForneyLab.jl">
              <a:extLst>
                <a:ext uri="{FF2B5EF4-FFF2-40B4-BE49-F238E27FC236}">
                  <a16:creationId xmlns:a16="http://schemas.microsoft.com/office/drawing/2014/main" id="{17F29E14-B56C-005A-EDB1-FCEC2EEADC87}"/>
                </a:ext>
              </a:extLst>
            </p:cNvPr>
            <p:cNvSpPr txBox="1"/>
            <p:nvPr/>
          </p:nvSpPr>
          <p:spPr>
            <a:xfrm>
              <a:off x="9350483" y="5388037"/>
              <a:ext cx="1401281" cy="471924"/>
            </a:xfrm>
            <a:prstGeom prst="rect">
              <a:avLst/>
            </a:prstGeom>
            <a:ln w="1905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 defTabSz="2438338">
                <a:spcBef>
                  <a:spcPts val="0"/>
                </a:spcBef>
                <a:defRPr sz="3600">
                  <a:solidFill>
                    <a:srgbClr val="333333"/>
                  </a:solidFill>
                  <a:latin typeface="Graphik-Medium"/>
                  <a:ea typeface="Graphik-Medium"/>
                  <a:cs typeface="Graphik-Medium"/>
                  <a:sym typeface="Graphik Medium"/>
                </a:defRPr>
              </a:lvl1pPr>
            </a:lstStyle>
            <a:p>
              <a:r>
                <a:rPr sz="2400" dirty="0">
                  <a:latin typeface="+mn-lt"/>
                </a:rPr>
                <a:t>ForneyLa</a:t>
              </a:r>
              <a:r>
                <a:rPr lang="en-US" sz="2400" dirty="0">
                  <a:latin typeface="+mn-lt"/>
                </a:rPr>
                <a:t>b</a:t>
              </a:r>
              <a:endParaRPr sz="2400" dirty="0">
                <a:latin typeface="+mn-lt"/>
              </a:endParaRPr>
            </a:p>
          </p:txBody>
        </p:sp>
        <p:pic>
          <p:nvPicPr>
            <p:cNvPr id="26" name="spsbrats_logo.png" descr="spsbrats_logo.png">
              <a:extLst>
                <a:ext uri="{FF2B5EF4-FFF2-40B4-BE49-F238E27FC236}">
                  <a16:creationId xmlns:a16="http://schemas.microsoft.com/office/drawing/2014/main" id="{8B3CCE9D-B199-B64C-F498-FCFB59327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2758" t="1852" r="2093" b="3692"/>
            <a:stretch>
              <a:fillRect/>
            </a:stretch>
          </p:blipFill>
          <p:spPr>
            <a:xfrm>
              <a:off x="7645292" y="5155906"/>
              <a:ext cx="1357890" cy="10187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2" h="21600" extrusionOk="0">
                  <a:moveTo>
                    <a:pt x="12061" y="0"/>
                  </a:moveTo>
                  <a:cubicBezTo>
                    <a:pt x="10606" y="0"/>
                    <a:pt x="10298" y="240"/>
                    <a:pt x="10298" y="1388"/>
                  </a:cubicBezTo>
                  <a:lnTo>
                    <a:pt x="10298" y="2119"/>
                  </a:lnTo>
                  <a:lnTo>
                    <a:pt x="10209" y="2119"/>
                  </a:lnTo>
                  <a:lnTo>
                    <a:pt x="10209" y="2176"/>
                  </a:lnTo>
                  <a:lnTo>
                    <a:pt x="8195" y="2125"/>
                  </a:lnTo>
                  <a:lnTo>
                    <a:pt x="8013" y="2119"/>
                  </a:lnTo>
                  <a:lnTo>
                    <a:pt x="6181" y="2119"/>
                  </a:lnTo>
                  <a:lnTo>
                    <a:pt x="6181" y="5083"/>
                  </a:lnTo>
                  <a:lnTo>
                    <a:pt x="6181" y="8046"/>
                  </a:lnTo>
                  <a:lnTo>
                    <a:pt x="6181" y="8058"/>
                  </a:lnTo>
                  <a:lnTo>
                    <a:pt x="4697" y="8058"/>
                  </a:lnTo>
                  <a:cubicBezTo>
                    <a:pt x="4329" y="8058"/>
                    <a:pt x="4048" y="8066"/>
                    <a:pt x="3803" y="8080"/>
                  </a:cubicBezTo>
                  <a:cubicBezTo>
                    <a:pt x="2919" y="8177"/>
                    <a:pt x="2744" y="8589"/>
                    <a:pt x="2709" y="10216"/>
                  </a:cubicBezTo>
                  <a:cubicBezTo>
                    <a:pt x="2707" y="10509"/>
                    <a:pt x="2709" y="10830"/>
                    <a:pt x="2709" y="11208"/>
                  </a:cubicBezTo>
                  <a:cubicBezTo>
                    <a:pt x="2709" y="12482"/>
                    <a:pt x="2705" y="13120"/>
                    <a:pt x="2658" y="13486"/>
                  </a:cubicBezTo>
                  <a:cubicBezTo>
                    <a:pt x="2616" y="13968"/>
                    <a:pt x="2531" y="14108"/>
                    <a:pt x="2349" y="14279"/>
                  </a:cubicBezTo>
                  <a:cubicBezTo>
                    <a:pt x="2142" y="14472"/>
                    <a:pt x="1663" y="14608"/>
                    <a:pt x="1191" y="14608"/>
                  </a:cubicBezTo>
                  <a:cubicBezTo>
                    <a:pt x="749" y="14608"/>
                    <a:pt x="304" y="14723"/>
                    <a:pt x="199" y="14863"/>
                  </a:cubicBezTo>
                  <a:cubicBezTo>
                    <a:pt x="67" y="15040"/>
                    <a:pt x="0" y="16573"/>
                    <a:pt x="0" y="18104"/>
                  </a:cubicBezTo>
                  <a:cubicBezTo>
                    <a:pt x="0" y="19635"/>
                    <a:pt x="67" y="21168"/>
                    <a:pt x="199" y="21345"/>
                  </a:cubicBezTo>
                  <a:cubicBezTo>
                    <a:pt x="330" y="21520"/>
                    <a:pt x="1119" y="21600"/>
                    <a:pt x="2726" y="21600"/>
                  </a:cubicBezTo>
                  <a:cubicBezTo>
                    <a:pt x="4424" y="21600"/>
                    <a:pt x="5037" y="21597"/>
                    <a:pt x="5261" y="21118"/>
                  </a:cubicBezTo>
                  <a:cubicBezTo>
                    <a:pt x="5309" y="20832"/>
                    <a:pt x="5352" y="20427"/>
                    <a:pt x="5371" y="19996"/>
                  </a:cubicBezTo>
                  <a:cubicBezTo>
                    <a:pt x="5378" y="19859"/>
                    <a:pt x="5386" y="19752"/>
                    <a:pt x="5393" y="19634"/>
                  </a:cubicBezTo>
                  <a:cubicBezTo>
                    <a:pt x="5403" y="18168"/>
                    <a:pt x="5685" y="17996"/>
                    <a:pt x="7928" y="17996"/>
                  </a:cubicBezTo>
                  <a:cubicBezTo>
                    <a:pt x="8131" y="17996"/>
                    <a:pt x="8298" y="17990"/>
                    <a:pt x="8471" y="17985"/>
                  </a:cubicBezTo>
                  <a:cubicBezTo>
                    <a:pt x="9215" y="17941"/>
                    <a:pt x="9661" y="17889"/>
                    <a:pt x="9874" y="17804"/>
                  </a:cubicBezTo>
                  <a:cubicBezTo>
                    <a:pt x="9875" y="17803"/>
                    <a:pt x="9877" y="17804"/>
                    <a:pt x="9878" y="17804"/>
                  </a:cubicBezTo>
                  <a:cubicBezTo>
                    <a:pt x="9911" y="17785"/>
                    <a:pt x="9934" y="17762"/>
                    <a:pt x="9950" y="17741"/>
                  </a:cubicBezTo>
                  <a:cubicBezTo>
                    <a:pt x="10086" y="17560"/>
                    <a:pt x="10141" y="16229"/>
                    <a:pt x="10141" y="13095"/>
                  </a:cubicBezTo>
                  <a:cubicBezTo>
                    <a:pt x="10141" y="9193"/>
                    <a:pt x="10189" y="8303"/>
                    <a:pt x="9335" y="8103"/>
                  </a:cubicBezTo>
                  <a:cubicBezTo>
                    <a:pt x="9088" y="8074"/>
                    <a:pt x="8766" y="8058"/>
                    <a:pt x="8242" y="8058"/>
                  </a:cubicBezTo>
                  <a:lnTo>
                    <a:pt x="6728" y="8058"/>
                  </a:lnTo>
                  <a:lnTo>
                    <a:pt x="6728" y="8046"/>
                  </a:lnTo>
                  <a:lnTo>
                    <a:pt x="6660" y="8046"/>
                  </a:lnTo>
                  <a:lnTo>
                    <a:pt x="6660" y="5508"/>
                  </a:lnTo>
                  <a:lnTo>
                    <a:pt x="6660" y="2963"/>
                  </a:lnTo>
                  <a:lnTo>
                    <a:pt x="7597" y="2963"/>
                  </a:lnTo>
                  <a:lnTo>
                    <a:pt x="8509" y="2935"/>
                  </a:lnTo>
                  <a:lnTo>
                    <a:pt x="10209" y="2884"/>
                  </a:lnTo>
                  <a:lnTo>
                    <a:pt x="10209" y="2963"/>
                  </a:lnTo>
                  <a:lnTo>
                    <a:pt x="10298" y="2963"/>
                  </a:lnTo>
                  <a:lnTo>
                    <a:pt x="10298" y="3677"/>
                  </a:lnTo>
                  <a:cubicBezTo>
                    <a:pt x="10298" y="4755"/>
                    <a:pt x="10539" y="4897"/>
                    <a:pt x="12303" y="4828"/>
                  </a:cubicBezTo>
                  <a:lnTo>
                    <a:pt x="13617" y="4777"/>
                  </a:lnTo>
                  <a:cubicBezTo>
                    <a:pt x="13743" y="4710"/>
                    <a:pt x="13825" y="4611"/>
                    <a:pt x="13876" y="4471"/>
                  </a:cubicBezTo>
                  <a:lnTo>
                    <a:pt x="13910" y="3864"/>
                  </a:lnTo>
                  <a:lnTo>
                    <a:pt x="13961" y="2963"/>
                  </a:lnTo>
                  <a:lnTo>
                    <a:pt x="15771" y="2963"/>
                  </a:lnTo>
                  <a:lnTo>
                    <a:pt x="17581" y="2963"/>
                  </a:lnTo>
                  <a:lnTo>
                    <a:pt x="17581" y="5508"/>
                  </a:lnTo>
                  <a:lnTo>
                    <a:pt x="17581" y="8046"/>
                  </a:lnTo>
                  <a:lnTo>
                    <a:pt x="16195" y="8046"/>
                  </a:lnTo>
                  <a:cubicBezTo>
                    <a:pt x="15959" y="8046"/>
                    <a:pt x="15758" y="8044"/>
                    <a:pt x="15572" y="8046"/>
                  </a:cubicBezTo>
                  <a:cubicBezTo>
                    <a:pt x="15202" y="8070"/>
                    <a:pt x="14922" y="8107"/>
                    <a:pt x="14732" y="8159"/>
                  </a:cubicBezTo>
                  <a:cubicBezTo>
                    <a:pt x="14308" y="8341"/>
                    <a:pt x="14167" y="8811"/>
                    <a:pt x="14122" y="10024"/>
                  </a:cubicBezTo>
                  <a:cubicBezTo>
                    <a:pt x="14121" y="10059"/>
                    <a:pt x="14118" y="10094"/>
                    <a:pt x="14118" y="10131"/>
                  </a:cubicBezTo>
                  <a:cubicBezTo>
                    <a:pt x="14109" y="10387"/>
                    <a:pt x="14107" y="10699"/>
                    <a:pt x="14105" y="11021"/>
                  </a:cubicBezTo>
                  <a:cubicBezTo>
                    <a:pt x="14102" y="11475"/>
                    <a:pt x="14101" y="12011"/>
                    <a:pt x="14101" y="12653"/>
                  </a:cubicBezTo>
                  <a:cubicBezTo>
                    <a:pt x="14101" y="12784"/>
                    <a:pt x="14101" y="12882"/>
                    <a:pt x="14101" y="13021"/>
                  </a:cubicBezTo>
                  <a:cubicBezTo>
                    <a:pt x="14101" y="13229"/>
                    <a:pt x="14100" y="13336"/>
                    <a:pt x="14101" y="13525"/>
                  </a:cubicBezTo>
                  <a:cubicBezTo>
                    <a:pt x="14106" y="15045"/>
                    <a:pt x="14133" y="16237"/>
                    <a:pt x="14173" y="16942"/>
                  </a:cubicBezTo>
                  <a:cubicBezTo>
                    <a:pt x="14210" y="17357"/>
                    <a:pt x="14262" y="17555"/>
                    <a:pt x="14347" y="17668"/>
                  </a:cubicBezTo>
                  <a:cubicBezTo>
                    <a:pt x="14485" y="17853"/>
                    <a:pt x="15445" y="17967"/>
                    <a:pt x="16606" y="18013"/>
                  </a:cubicBezTo>
                  <a:cubicBezTo>
                    <a:pt x="16608" y="18013"/>
                    <a:pt x="16609" y="18013"/>
                    <a:pt x="16610" y="18013"/>
                  </a:cubicBezTo>
                  <a:cubicBezTo>
                    <a:pt x="16964" y="18015"/>
                    <a:pt x="17259" y="18019"/>
                    <a:pt x="17738" y="18019"/>
                  </a:cubicBezTo>
                  <a:cubicBezTo>
                    <a:pt x="18290" y="18019"/>
                    <a:pt x="18678" y="18017"/>
                    <a:pt x="19069" y="18013"/>
                  </a:cubicBezTo>
                  <a:cubicBezTo>
                    <a:pt x="20214" y="17966"/>
                    <a:pt x="21154" y="17851"/>
                    <a:pt x="21291" y="17668"/>
                  </a:cubicBezTo>
                  <a:cubicBezTo>
                    <a:pt x="21501" y="17387"/>
                    <a:pt x="21541" y="16660"/>
                    <a:pt x="21541" y="13021"/>
                  </a:cubicBezTo>
                  <a:cubicBezTo>
                    <a:pt x="21541" y="8823"/>
                    <a:pt x="21600" y="8162"/>
                    <a:pt x="20468" y="8063"/>
                  </a:cubicBezTo>
                  <a:cubicBezTo>
                    <a:pt x="20241" y="8055"/>
                    <a:pt x="19974" y="8058"/>
                    <a:pt x="19646" y="8058"/>
                  </a:cubicBezTo>
                  <a:lnTo>
                    <a:pt x="18128" y="8058"/>
                  </a:lnTo>
                  <a:lnTo>
                    <a:pt x="18128" y="8046"/>
                  </a:lnTo>
                  <a:lnTo>
                    <a:pt x="18056" y="8046"/>
                  </a:lnTo>
                  <a:lnTo>
                    <a:pt x="18056" y="5083"/>
                  </a:lnTo>
                  <a:lnTo>
                    <a:pt x="18056" y="2119"/>
                  </a:lnTo>
                  <a:lnTo>
                    <a:pt x="16000" y="2119"/>
                  </a:lnTo>
                  <a:lnTo>
                    <a:pt x="13940" y="2119"/>
                  </a:lnTo>
                  <a:lnTo>
                    <a:pt x="13940" y="1275"/>
                  </a:lnTo>
                  <a:cubicBezTo>
                    <a:pt x="13940" y="180"/>
                    <a:pt x="13671" y="0"/>
                    <a:pt x="12061" y="0"/>
                  </a:cubicBezTo>
                  <a:close/>
                </a:path>
              </a:pathLst>
            </a:custGeom>
            <a:ln w="19050">
              <a:noFill/>
              <a:miter lim="400000"/>
            </a:ln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3DC49607-98B8-F193-0FCB-0FFC51FBAB53}"/>
                </a:ext>
              </a:extLst>
            </p:cNvPr>
            <p:cNvSpPr/>
            <p:nvPr/>
          </p:nvSpPr>
          <p:spPr>
            <a:xfrm>
              <a:off x="7353300" y="1292488"/>
              <a:ext cx="4104119" cy="508582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FB20F519-D003-BEEE-6B39-703F0ABEEAED}"/>
                </a:ext>
              </a:extLst>
            </p:cNvPr>
            <p:cNvSpPr txBox="1">
              <a:spLocks/>
            </p:cNvSpPr>
            <p:nvPr/>
          </p:nvSpPr>
          <p:spPr>
            <a:xfrm>
              <a:off x="7866341" y="1109543"/>
              <a:ext cx="3078036" cy="4180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txBody>
            <a:bodyPr>
              <a:normAutofit fontScale="77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3600" dirty="0">
                  <a:solidFill>
                    <a:schemeClr val="accent5">
                      <a:lumMod val="50000"/>
                    </a:schemeClr>
                  </a:solidFill>
                  <a:latin typeface="+mj-lt"/>
                </a:rPr>
                <a:t>Existing PPLs</a:t>
              </a:r>
              <a:endParaRPr lang="en-NL" sz="3600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NL" dirty="0"/>
            </a:p>
            <a:p>
              <a:pPr marL="0" indent="0">
                <a:buFont typeface="Arial" panose="020B0604020202020204" pitchFamily="34" charset="0"/>
                <a:buNone/>
              </a:pPr>
              <a:endParaRPr lang="en-NL" dirty="0"/>
            </a:p>
          </p:txBody>
        </p:sp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D837FC-BFC3-DB3C-1D03-FC3AE6DC1E03}"/>
              </a:ext>
            </a:extLst>
          </p:cNvPr>
          <p:cNvSpPr/>
          <p:nvPr/>
        </p:nvSpPr>
        <p:spPr>
          <a:xfrm>
            <a:off x="468369" y="1292488"/>
            <a:ext cx="5255140" cy="508582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8A072-7590-2DDA-4A4B-55A11A992DDF}"/>
              </a:ext>
            </a:extLst>
          </p:cNvPr>
          <p:cNvSpPr txBox="1">
            <a:spLocks/>
          </p:cNvSpPr>
          <p:nvPr/>
        </p:nvSpPr>
        <p:spPr>
          <a:xfrm>
            <a:off x="2014259" y="1127225"/>
            <a:ext cx="2021094" cy="418047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Desiderata</a:t>
            </a:r>
            <a:endParaRPr lang="en-NL" sz="36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NL" dirty="0"/>
          </a:p>
          <a:p>
            <a:pPr marL="0" indent="0">
              <a:buFont typeface="Arial" panose="020B0604020202020204" pitchFamily="34" charset="0"/>
              <a:buNone/>
            </a:pPr>
            <a:endParaRPr lang="en-NL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416972-4F9E-FB2A-6CED-76D61D8D9D94}"/>
              </a:ext>
            </a:extLst>
          </p:cNvPr>
          <p:cNvGrpSpPr/>
          <p:nvPr/>
        </p:nvGrpSpPr>
        <p:grpSpPr>
          <a:xfrm>
            <a:off x="2539302" y="3271634"/>
            <a:ext cx="1126598" cy="1109657"/>
            <a:chOff x="6017472" y="3882445"/>
            <a:chExt cx="1126598" cy="1109657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395A2380-D093-683E-BB81-093047FACBCE}"/>
                </a:ext>
              </a:extLst>
            </p:cNvPr>
            <p:cNvSpPr/>
            <p:nvPr/>
          </p:nvSpPr>
          <p:spPr>
            <a:xfrm>
              <a:off x="6017472" y="3882445"/>
              <a:ext cx="1126598" cy="1106458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0CD844B-E43D-F006-E041-4F710E317940}"/>
                </a:ext>
              </a:extLst>
            </p:cNvPr>
            <p:cNvGrpSpPr/>
            <p:nvPr/>
          </p:nvGrpSpPr>
          <p:grpSpPr>
            <a:xfrm>
              <a:off x="6094765" y="3899145"/>
              <a:ext cx="984838" cy="1092957"/>
              <a:chOff x="5949301" y="4840048"/>
              <a:chExt cx="984838" cy="109295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2395D1F-00AF-79DA-1E53-AE95E98F66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49301" y="4840048"/>
                <a:ext cx="984838" cy="984838"/>
              </a:xfrm>
              <a:prstGeom prst="rect">
                <a:avLst/>
              </a:prstGeom>
              <a:ln w="28575">
                <a:noFill/>
              </a:ln>
            </p:spPr>
          </p:pic>
          <p:sp>
            <p:nvSpPr>
              <p:cNvPr id="15" name="JASP">
                <a:extLst>
                  <a:ext uri="{FF2B5EF4-FFF2-40B4-BE49-F238E27FC236}">
                    <a16:creationId xmlns:a16="http://schemas.microsoft.com/office/drawing/2014/main" id="{AB40FA4A-1C8B-4C38-73C8-8F8739EAD374}"/>
                  </a:ext>
                </a:extLst>
              </p:cNvPr>
              <p:cNvSpPr txBox="1"/>
              <p:nvPr/>
            </p:nvSpPr>
            <p:spPr>
              <a:xfrm>
                <a:off x="6088444" y="5604710"/>
                <a:ext cx="714234" cy="328295"/>
              </a:xfrm>
              <a:prstGeom prst="rect">
                <a:avLst/>
              </a:prstGeom>
              <a:ln w="28575">
                <a:noFill/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25400" tIns="25400" rIns="25400" bIns="25400" anchor="ctr">
                <a:spAutoFit/>
              </a:bodyPr>
              <a:lstStyle>
                <a:lvl1pPr defTabSz="2438338">
                  <a:spcBef>
                    <a:spcPts val="0"/>
                  </a:spcBef>
                  <a:defRPr sz="3600">
                    <a:solidFill>
                      <a:srgbClr val="333333"/>
                    </a:solidFill>
                    <a:latin typeface="Graphik-Medium"/>
                    <a:ea typeface="Graphik-Medium"/>
                    <a:cs typeface="Graphik-Medium"/>
                    <a:sym typeface="Graphik Medium"/>
                  </a:defRPr>
                </a:lvl1pPr>
              </a:lstStyle>
              <a:p>
                <a:r>
                  <a:rPr lang="nl-NL" sz="1800" dirty="0" err="1"/>
                  <a:t>RxInfer</a:t>
                </a:r>
                <a:endParaRPr sz="1800" dirty="0"/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EFF2F-A2B0-E7DC-4EE2-CCD6619AE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1165" y="6356350"/>
            <a:ext cx="2743200" cy="365125"/>
          </a:xfrm>
        </p:spPr>
        <p:txBody>
          <a:bodyPr/>
          <a:lstStyle/>
          <a:p>
            <a:fld id="{55767B11-4F60-384F-98F8-8A8E9556CD7D}" type="slidenum">
              <a:rPr lang="en-NL" smtClean="0"/>
              <a:t>9</a:t>
            </a:fld>
            <a:endParaRPr lang="en-NL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43E0357-CE65-CB6D-0C4B-A010EA0CE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58" y="705318"/>
            <a:ext cx="10462884" cy="60161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DDAABDE-62F7-8AD7-B417-8B4435857199}"/>
              </a:ext>
            </a:extLst>
          </p:cNvPr>
          <p:cNvSpPr txBox="1">
            <a:spLocks/>
          </p:cNvSpPr>
          <p:nvPr/>
        </p:nvSpPr>
        <p:spPr>
          <a:xfrm>
            <a:off x="300680" y="1091061"/>
            <a:ext cx="4335399" cy="4180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NL" sz="1900">
                <a:hlinkClick r:id="rId4"/>
              </a:rPr>
              <a:t>rxinfer.</a:t>
            </a:r>
            <a:r>
              <a:rPr lang="nl-NL" sz="1900" dirty="0">
                <a:hlinkClick r:id="rId4"/>
              </a:rPr>
              <a:t>com</a:t>
            </a:r>
            <a:endParaRPr lang="en-NL" sz="1900" dirty="0"/>
          </a:p>
          <a:p>
            <a:pPr marL="0" indent="0">
              <a:buFont typeface="Arial" panose="020B0604020202020204" pitchFamily="34" charset="0"/>
              <a:buNone/>
            </a:pPr>
            <a:endParaRPr lang="en-NL" dirty="0"/>
          </a:p>
          <a:p>
            <a:pPr marL="0" indent="0">
              <a:buFont typeface="Arial" panose="020B0604020202020204" pitchFamily="34" charset="0"/>
              <a:buNone/>
            </a:pPr>
            <a:endParaRPr lang="en-NL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A48C64C-5730-FC7A-3CA6-AE16565497B8}"/>
              </a:ext>
            </a:extLst>
          </p:cNvPr>
          <p:cNvSpPr txBox="1">
            <a:spLocks/>
          </p:cNvSpPr>
          <p:nvPr/>
        </p:nvSpPr>
        <p:spPr>
          <a:xfrm>
            <a:off x="734580" y="167482"/>
            <a:ext cx="10722839" cy="418047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nl-NL" sz="3600" dirty="0" err="1">
                <a:solidFill>
                  <a:srgbClr val="0070C0"/>
                </a:solidFill>
                <a:latin typeface="+mj-lt"/>
              </a:rPr>
              <a:t>RxInfer</a:t>
            </a:r>
            <a:r>
              <a:rPr lang="nl-NL" sz="3600" dirty="0">
                <a:solidFill>
                  <a:srgbClr val="0070C0"/>
                </a:solidFill>
                <a:latin typeface="+mj-lt"/>
              </a:rPr>
              <a:t>: </a:t>
            </a:r>
            <a:r>
              <a:rPr lang="en-NL" sz="3600">
                <a:solidFill>
                  <a:srgbClr val="0070C0"/>
                </a:solidFill>
                <a:latin typeface="+mj-lt"/>
              </a:rPr>
              <a:t>A </a:t>
            </a:r>
            <a:r>
              <a:rPr lang="en-NL" sz="3600" dirty="0">
                <a:solidFill>
                  <a:srgbClr val="0070C0"/>
                </a:solidFill>
                <a:latin typeface="+mj-lt"/>
              </a:rPr>
              <a:t>Software Toolbox for Scalable, Real-time, Automated Free Energy Minimization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NL" dirty="0"/>
          </a:p>
          <a:p>
            <a:pPr marL="0" indent="0">
              <a:buFont typeface="Arial" panose="020B0604020202020204" pitchFamily="34" charset="0"/>
              <a:buNone/>
            </a:pPr>
            <a:endParaRPr lang="en-NL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2B2B969-75D1-FF33-2703-9BDB333C6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73241">
            <a:off x="6161762" y="2507613"/>
            <a:ext cx="11765205" cy="672147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7C60117-B312-1BCC-1235-725853923860}"/>
              </a:ext>
            </a:extLst>
          </p:cNvPr>
          <p:cNvGrpSpPr>
            <a:grpSpLocks noChangeAspect="1"/>
          </p:cNvGrpSpPr>
          <p:nvPr/>
        </p:nvGrpSpPr>
        <p:grpSpPr>
          <a:xfrm rot="428013">
            <a:off x="9038798" y="1427967"/>
            <a:ext cx="2713035" cy="1608838"/>
            <a:chOff x="147634" y="523448"/>
            <a:chExt cx="6858001" cy="4066816"/>
          </a:xfrm>
        </p:grpSpPr>
        <p:pic>
          <p:nvPicPr>
            <p:cNvPr id="4" name="Picture 2" descr="NumFOCUS: A Nonprofit Supporting Open Code for Better Science">
              <a:extLst>
                <a:ext uri="{FF2B5EF4-FFF2-40B4-BE49-F238E27FC236}">
                  <a16:creationId xmlns:a16="http://schemas.microsoft.com/office/drawing/2014/main" id="{CC7B9B5F-96F0-1E65-D08F-4E5D7A48C0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634" y="523448"/>
              <a:ext cx="6857999" cy="22888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pic>
          <p:nvPicPr>
            <p:cNvPr id="6" name="Picture 5" descr="A white text with black text&#10;&#10;AI-generated content may be incorrect.">
              <a:extLst>
                <a:ext uri="{FF2B5EF4-FFF2-40B4-BE49-F238E27FC236}">
                  <a16:creationId xmlns:a16="http://schemas.microsoft.com/office/drawing/2014/main" id="{B20D6CE7-4DE3-0A2F-954C-3FF26A1D0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7635" y="2812264"/>
              <a:ext cx="6858000" cy="1778000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1434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B43888-FF00-7F45-9569-C33891948257}"/>
              </a:ext>
            </a:extLst>
          </p:cNvPr>
          <p:cNvSpPr/>
          <p:nvPr/>
        </p:nvSpPr>
        <p:spPr>
          <a:xfrm>
            <a:off x="2663034" y="2727035"/>
            <a:ext cx="422241" cy="3881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A2CFA3-CF2B-3C48-9C3B-8352076727D8}"/>
                  </a:ext>
                </a:extLst>
              </p:cNvPr>
              <p:cNvSpPr txBox="1"/>
              <p:nvPr/>
            </p:nvSpPr>
            <p:spPr>
              <a:xfrm>
                <a:off x="2761642" y="2785049"/>
                <a:ext cx="22377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A2CFA3-CF2B-3C48-9C3B-835207672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642" y="2785049"/>
                <a:ext cx="223779" cy="246221"/>
              </a:xfrm>
              <a:prstGeom prst="rect">
                <a:avLst/>
              </a:prstGeom>
              <a:blipFill>
                <a:blip r:embed="rId3"/>
                <a:stretch>
                  <a:fillRect l="-26316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0A3FD7-AA56-C54A-9715-C3E8948B1CAA}"/>
              </a:ext>
            </a:extLst>
          </p:cNvPr>
          <p:cNvCxnSpPr>
            <a:stCxn id="2" idx="3"/>
          </p:cNvCxnSpPr>
          <p:nvPr/>
        </p:nvCxnSpPr>
        <p:spPr>
          <a:xfrm flipV="1">
            <a:off x="3085275" y="2917802"/>
            <a:ext cx="1165591" cy="333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2414CA-2285-0D4F-BDC7-7BA0F903058F}"/>
                  </a:ext>
                </a:extLst>
              </p:cNvPr>
              <p:cNvSpPr txBox="1"/>
              <p:nvPr/>
            </p:nvSpPr>
            <p:spPr>
              <a:xfrm>
                <a:off x="3668070" y="2940518"/>
                <a:ext cx="24384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2414CA-2285-0D4F-BDC7-7BA0F9030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070" y="2940518"/>
                <a:ext cx="243849" cy="246221"/>
              </a:xfrm>
              <a:prstGeom prst="rect">
                <a:avLst/>
              </a:prstGeom>
              <a:blipFill>
                <a:blip r:embed="rId4"/>
                <a:stretch>
                  <a:fillRect l="-9524" r="-4762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>
            <a:extLst>
              <a:ext uri="{FF2B5EF4-FFF2-40B4-BE49-F238E27FC236}">
                <a16:creationId xmlns:a16="http://schemas.microsoft.com/office/drawing/2014/main" id="{DA2BC3D1-084E-904C-BB9D-30551E39617F}"/>
              </a:ext>
            </a:extLst>
          </p:cNvPr>
          <p:cNvSpPr/>
          <p:nvPr/>
        </p:nvSpPr>
        <p:spPr>
          <a:xfrm>
            <a:off x="4250866" y="2727035"/>
            <a:ext cx="422241" cy="3881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295712A-1D0D-BC4C-9062-9D96FDD58882}"/>
              </a:ext>
            </a:extLst>
          </p:cNvPr>
          <p:cNvCxnSpPr>
            <a:cxnSpLocks/>
            <a:stCxn id="52" idx="2"/>
            <a:endCxn id="48" idx="0"/>
          </p:cNvCxnSpPr>
          <p:nvPr/>
        </p:nvCxnSpPr>
        <p:spPr>
          <a:xfrm>
            <a:off x="4461986" y="1857813"/>
            <a:ext cx="0" cy="86922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A2BC7A38-2770-0D43-A244-1FBD427C2F7B}"/>
              </a:ext>
            </a:extLst>
          </p:cNvPr>
          <p:cNvSpPr/>
          <p:nvPr/>
        </p:nvSpPr>
        <p:spPr>
          <a:xfrm>
            <a:off x="4250866" y="1469618"/>
            <a:ext cx="422241" cy="3881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673FE6E-3035-7142-A8C6-28A196356FFA}"/>
                  </a:ext>
                </a:extLst>
              </p:cNvPr>
              <p:cNvSpPr txBox="1"/>
              <p:nvPr/>
            </p:nvSpPr>
            <p:spPr>
              <a:xfrm>
                <a:off x="4346526" y="2775260"/>
                <a:ext cx="20723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673FE6E-3035-7142-A8C6-28A196356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526" y="2775260"/>
                <a:ext cx="207236" cy="246221"/>
              </a:xfrm>
              <a:prstGeom prst="rect">
                <a:avLst/>
              </a:prstGeom>
              <a:blipFill>
                <a:blip r:embed="rId5"/>
                <a:stretch>
                  <a:fillRect l="-35294" r="-5882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E40FEE1-EDFB-7C45-AB44-09BDBE0CA457}"/>
                  </a:ext>
                </a:extLst>
              </p:cNvPr>
              <p:cNvSpPr txBox="1"/>
              <p:nvPr/>
            </p:nvSpPr>
            <p:spPr>
              <a:xfrm>
                <a:off x="4322432" y="1524495"/>
                <a:ext cx="22897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E40FEE1-EDFB-7C45-AB44-09BDBE0CA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432" y="1524495"/>
                <a:ext cx="228972" cy="246221"/>
              </a:xfrm>
              <a:prstGeom prst="rect">
                <a:avLst/>
              </a:prstGeom>
              <a:blipFill>
                <a:blip r:embed="rId6"/>
                <a:stretch>
                  <a:fillRect l="-26316" r="-5263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C645D11-8BF2-164E-8854-CCA0435D8F90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4673107" y="2911345"/>
            <a:ext cx="1541318" cy="978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EFAD2255-375F-A841-80B8-A5218E6CEAD5}"/>
              </a:ext>
            </a:extLst>
          </p:cNvPr>
          <p:cNvSpPr/>
          <p:nvPr/>
        </p:nvSpPr>
        <p:spPr>
          <a:xfrm>
            <a:off x="6214425" y="2727035"/>
            <a:ext cx="422241" cy="3881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AEE0D35-F12E-A74D-9557-C43E2D955B3B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6417491" y="1856978"/>
            <a:ext cx="0" cy="86922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3211286E-A1A7-1D4B-8318-C74E58CCCFBB}"/>
              </a:ext>
            </a:extLst>
          </p:cNvPr>
          <p:cNvSpPr/>
          <p:nvPr/>
        </p:nvSpPr>
        <p:spPr>
          <a:xfrm>
            <a:off x="6206371" y="1468784"/>
            <a:ext cx="422241" cy="3881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2769F80-8B03-2F4E-9993-CA57A6C6E6A1}"/>
                  </a:ext>
                </a:extLst>
              </p:cNvPr>
              <p:cNvSpPr txBox="1"/>
              <p:nvPr/>
            </p:nvSpPr>
            <p:spPr>
              <a:xfrm>
                <a:off x="6277937" y="1523661"/>
                <a:ext cx="23609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2769F80-8B03-2F4E-9993-CA57A6C6E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937" y="1523661"/>
                <a:ext cx="236090" cy="246221"/>
              </a:xfrm>
              <a:prstGeom prst="rect">
                <a:avLst/>
              </a:prstGeom>
              <a:blipFill>
                <a:blip r:embed="rId7"/>
                <a:stretch>
                  <a:fillRect l="-25000" r="-500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6607EF8-6FE7-3744-A230-0B27AC46C825}"/>
              </a:ext>
            </a:extLst>
          </p:cNvPr>
          <p:cNvCxnSpPr>
            <a:cxnSpLocks/>
            <a:stCxn id="59" idx="3"/>
            <a:endCxn id="70" idx="1"/>
          </p:cNvCxnSpPr>
          <p:nvPr/>
        </p:nvCxnSpPr>
        <p:spPr>
          <a:xfrm flipV="1">
            <a:off x="6636666" y="2914176"/>
            <a:ext cx="1167155" cy="695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1D2A7CF-BA86-1E47-8D27-3EFEF067327C}"/>
                  </a:ext>
                </a:extLst>
              </p:cNvPr>
              <p:cNvSpPr txBox="1"/>
              <p:nvPr/>
            </p:nvSpPr>
            <p:spPr>
              <a:xfrm>
                <a:off x="6985604" y="2994686"/>
                <a:ext cx="2853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1D2A7CF-BA86-1E47-8D27-3EFEF0673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604" y="2994686"/>
                <a:ext cx="285332" cy="246221"/>
              </a:xfrm>
              <a:prstGeom prst="rect">
                <a:avLst/>
              </a:prstGeom>
              <a:blipFill>
                <a:blip r:embed="rId8"/>
                <a:stretch>
                  <a:fillRect l="-434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>
            <a:extLst>
              <a:ext uri="{FF2B5EF4-FFF2-40B4-BE49-F238E27FC236}">
                <a16:creationId xmlns:a16="http://schemas.microsoft.com/office/drawing/2014/main" id="{390E2EB1-D385-F042-B3D4-D5E97F828D39}"/>
              </a:ext>
            </a:extLst>
          </p:cNvPr>
          <p:cNvSpPr/>
          <p:nvPr/>
        </p:nvSpPr>
        <p:spPr>
          <a:xfrm>
            <a:off x="7803821" y="2720079"/>
            <a:ext cx="422241" cy="3881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5F08E25-BDE1-124F-8102-22D3798B53E8}"/>
                  </a:ext>
                </a:extLst>
              </p:cNvPr>
              <p:cNvSpPr txBox="1"/>
              <p:nvPr/>
            </p:nvSpPr>
            <p:spPr>
              <a:xfrm>
                <a:off x="6294369" y="2752045"/>
                <a:ext cx="26432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5F08E25-BDE1-124F-8102-22D3798B5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369" y="2752045"/>
                <a:ext cx="264324" cy="246221"/>
              </a:xfrm>
              <a:prstGeom prst="rect">
                <a:avLst/>
              </a:prstGeom>
              <a:blipFill>
                <a:blip r:embed="rId9"/>
                <a:stretch>
                  <a:fillRect l="-13636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AEBA9B0-8A02-CC4C-BBD2-D60891139922}"/>
              </a:ext>
            </a:extLst>
          </p:cNvPr>
          <p:cNvCxnSpPr>
            <a:cxnSpLocks/>
          </p:cNvCxnSpPr>
          <p:nvPr/>
        </p:nvCxnSpPr>
        <p:spPr>
          <a:xfrm flipV="1">
            <a:off x="8226062" y="2911379"/>
            <a:ext cx="1167155" cy="695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01957B47-3C0E-4640-9E47-4161838C8F93}"/>
              </a:ext>
            </a:extLst>
          </p:cNvPr>
          <p:cNvSpPr/>
          <p:nvPr/>
        </p:nvSpPr>
        <p:spPr>
          <a:xfrm>
            <a:off x="7803821" y="3935166"/>
            <a:ext cx="422241" cy="3881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40A1CD3-7A0B-834E-A6EE-911B509F75A0}"/>
              </a:ext>
            </a:extLst>
          </p:cNvPr>
          <p:cNvCxnSpPr>
            <a:cxnSpLocks/>
            <a:stCxn id="70" idx="2"/>
            <a:endCxn id="73" idx="0"/>
          </p:cNvCxnSpPr>
          <p:nvPr/>
        </p:nvCxnSpPr>
        <p:spPr>
          <a:xfrm>
            <a:off x="8014942" y="3108274"/>
            <a:ext cx="0" cy="82689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6CC4309-321B-DA47-B9F1-9C95D043B75F}"/>
                  </a:ext>
                </a:extLst>
              </p:cNvPr>
              <p:cNvSpPr txBox="1"/>
              <p:nvPr/>
            </p:nvSpPr>
            <p:spPr>
              <a:xfrm>
                <a:off x="7882779" y="2761088"/>
                <a:ext cx="220958" cy="2659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6CC4309-321B-DA47-B9F1-9C95D043B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2779" y="2761088"/>
                <a:ext cx="220958" cy="265970"/>
              </a:xfrm>
              <a:prstGeom prst="rect">
                <a:avLst/>
              </a:prstGeom>
              <a:blipFill>
                <a:blip r:embed="rId10"/>
                <a:stretch>
                  <a:fillRect l="-27778" r="-16667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E32F9ED-9BB7-334E-A10C-8717ED1195A5}"/>
                  </a:ext>
                </a:extLst>
              </p:cNvPr>
              <p:cNvSpPr txBox="1"/>
              <p:nvPr/>
            </p:nvSpPr>
            <p:spPr>
              <a:xfrm>
                <a:off x="7909616" y="3957343"/>
                <a:ext cx="229102" cy="266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E32F9ED-9BB7-334E-A10C-8717ED119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616" y="3957343"/>
                <a:ext cx="229102" cy="266227"/>
              </a:xfrm>
              <a:prstGeom prst="rect">
                <a:avLst/>
              </a:prstGeom>
              <a:blipFill>
                <a:blip r:embed="rId11"/>
                <a:stretch>
                  <a:fillRect l="-33333" r="-11111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1F0EDE3-10F6-5E4A-8B1F-6E899D68ACBA}"/>
                  </a:ext>
                </a:extLst>
              </p:cNvPr>
              <p:cNvSpPr txBox="1"/>
              <p:nvPr/>
            </p:nvSpPr>
            <p:spPr>
              <a:xfrm>
                <a:off x="4139204" y="2106359"/>
                <a:ext cx="24859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1F0EDE3-10F6-5E4A-8B1F-6E899D68A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204" y="2106359"/>
                <a:ext cx="248593" cy="246221"/>
              </a:xfrm>
              <a:prstGeom prst="rect">
                <a:avLst/>
              </a:prstGeom>
              <a:blipFill>
                <a:blip r:embed="rId12"/>
                <a:stretch>
                  <a:fillRect l="-9524" r="-9524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84D6CC1-42C9-1E4E-B65A-6B26D281AAD9}"/>
                  </a:ext>
                </a:extLst>
              </p:cNvPr>
              <p:cNvSpPr txBox="1"/>
              <p:nvPr/>
            </p:nvSpPr>
            <p:spPr>
              <a:xfrm>
                <a:off x="4966193" y="2599329"/>
                <a:ext cx="24859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84D6CC1-42C9-1E4E-B65A-6B26D281A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193" y="2599329"/>
                <a:ext cx="248593" cy="246221"/>
              </a:xfrm>
              <a:prstGeom prst="rect">
                <a:avLst/>
              </a:prstGeom>
              <a:blipFill>
                <a:blip r:embed="rId13"/>
                <a:stretch>
                  <a:fillRect l="-15000" r="-1000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3D8A601-B860-284C-BC52-C6EEF7E327C0}"/>
                  </a:ext>
                </a:extLst>
              </p:cNvPr>
              <p:cNvSpPr txBox="1"/>
              <p:nvPr/>
            </p:nvSpPr>
            <p:spPr>
              <a:xfrm>
                <a:off x="6094357" y="2091299"/>
                <a:ext cx="24859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3D8A601-B860-284C-BC52-C6EEF7E3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357" y="2091299"/>
                <a:ext cx="248593" cy="246221"/>
              </a:xfrm>
              <a:prstGeom prst="rect">
                <a:avLst/>
              </a:prstGeom>
              <a:blipFill>
                <a:blip r:embed="rId14"/>
                <a:stretch>
                  <a:fillRect l="-15000" r="-10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AE33065-5156-F046-89FD-F82FF806618C}"/>
                  </a:ext>
                </a:extLst>
              </p:cNvPr>
              <p:cNvSpPr txBox="1"/>
              <p:nvPr/>
            </p:nvSpPr>
            <p:spPr>
              <a:xfrm>
                <a:off x="8685645" y="2915135"/>
                <a:ext cx="24859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AE33065-5156-F046-89FD-F82FF8066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5645" y="2915135"/>
                <a:ext cx="248593" cy="246221"/>
              </a:xfrm>
              <a:prstGeom prst="rect">
                <a:avLst/>
              </a:prstGeom>
              <a:blipFill>
                <a:blip r:embed="rId15"/>
                <a:stretch>
                  <a:fillRect l="-15000" r="-1000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3512DD8-6E52-4147-A49F-EB7E6E4F5EC8}"/>
                  </a:ext>
                </a:extLst>
              </p:cNvPr>
              <p:cNvSpPr txBox="1"/>
              <p:nvPr/>
            </p:nvSpPr>
            <p:spPr>
              <a:xfrm>
                <a:off x="7732478" y="3285012"/>
                <a:ext cx="24859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NL" sz="160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3512DD8-6E52-4147-A49F-EB7E6E4F5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478" y="3285012"/>
                <a:ext cx="248593" cy="246221"/>
              </a:xfrm>
              <a:prstGeom prst="rect">
                <a:avLst/>
              </a:prstGeom>
              <a:blipFill>
                <a:blip r:embed="rId16"/>
                <a:stretch>
                  <a:fillRect l="-9524" r="-952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54A8780-90C8-5CD6-3BB5-BC50181CC017}"/>
              </a:ext>
            </a:extLst>
          </p:cNvPr>
          <p:cNvGrpSpPr/>
          <p:nvPr/>
        </p:nvGrpSpPr>
        <p:grpSpPr>
          <a:xfrm>
            <a:off x="3208224" y="2055243"/>
            <a:ext cx="6049612" cy="1983125"/>
            <a:chOff x="3208224" y="2154678"/>
            <a:chExt cx="6049612" cy="198312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E538C9E-BD42-D53B-EEBD-F927C9C64D2E}"/>
                </a:ext>
              </a:extLst>
            </p:cNvPr>
            <p:cNvGrpSpPr/>
            <p:nvPr/>
          </p:nvGrpSpPr>
          <p:grpSpPr>
            <a:xfrm>
              <a:off x="5220853" y="2154678"/>
              <a:ext cx="4036983" cy="1983125"/>
              <a:chOff x="5220853" y="2154678"/>
              <a:chExt cx="4036983" cy="1983125"/>
            </a:xfrm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DCDFB3BC-A2E4-5245-B5E0-6748050F83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2261" y="2154678"/>
                <a:ext cx="0" cy="435623"/>
              </a:xfrm>
              <a:prstGeom prst="straightConnector1">
                <a:avLst/>
              </a:prstGeom>
              <a:ln w="1905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26C366D3-9004-FA47-8C0E-AE5BD4209696}"/>
                      </a:ext>
                    </a:extLst>
                  </p:cNvPr>
                  <p:cNvSpPr txBox="1"/>
                  <p:nvPr/>
                </p:nvSpPr>
                <p:spPr>
                  <a:xfrm>
                    <a:off x="6582756" y="2174288"/>
                    <a:ext cx="608115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600"/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26C366D3-9004-FA47-8C0E-AE5BD42096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2756" y="2174288"/>
                    <a:ext cx="608115" cy="24622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2000" r="-11000" b="-3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B2A459E4-2905-BE44-9BE0-AB703BD4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6785641" y="2608023"/>
                    <a:ext cx="624711" cy="26872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NL" sz="16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⃖"/>
                                  <m:ctrlPr>
                                    <a:rPr lang="en-NL" sz="160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NL" sz="160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60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B2A459E4-2905-BE44-9BE0-AB703BD4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85641" y="2608023"/>
                    <a:ext cx="624711" cy="268728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11650" t="-31818" r="-21359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C50AF50D-DBCE-C046-976A-DB14701124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94539" y="3702180"/>
                <a:ext cx="0" cy="435623"/>
              </a:xfrm>
              <a:prstGeom prst="straightConnector1">
                <a:avLst/>
              </a:prstGeom>
              <a:ln w="1905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4A097C84-DB2A-6248-84CA-66EE1FC2080C}"/>
                      </a:ext>
                    </a:extLst>
                  </p:cNvPr>
                  <p:cNvSpPr txBox="1"/>
                  <p:nvPr/>
                </p:nvSpPr>
                <p:spPr>
                  <a:xfrm>
                    <a:off x="8360053" y="3720905"/>
                    <a:ext cx="624711" cy="2677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60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4A097C84-DB2A-6248-84CA-66EE1FC208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60053" y="3720905"/>
                    <a:ext cx="624711" cy="267766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8738" r="-9709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05CEDB1E-E8EA-D14B-9FDF-28C9286494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70190" y="2932505"/>
                <a:ext cx="521805" cy="0"/>
              </a:xfrm>
              <a:prstGeom prst="straightConnector1">
                <a:avLst/>
              </a:prstGeom>
              <a:ln w="1905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D74C1295-159C-B945-ABE7-47239C976A57}"/>
                      </a:ext>
                    </a:extLst>
                  </p:cNvPr>
                  <p:cNvSpPr txBox="1"/>
                  <p:nvPr/>
                </p:nvSpPr>
                <p:spPr>
                  <a:xfrm>
                    <a:off x="8633125" y="2665898"/>
                    <a:ext cx="624711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6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NL" sz="1600"/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D74C1295-159C-B945-ABE7-47239C976A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33125" y="2665898"/>
                    <a:ext cx="624711" cy="246221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C963301B-FF98-3440-BCA8-CC58677215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73534" y="2909604"/>
                <a:ext cx="521805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527FB470-AE3D-B846-93ED-2FDB101F4FB3}"/>
                      </a:ext>
                    </a:extLst>
                  </p:cNvPr>
                  <p:cNvSpPr txBox="1"/>
                  <p:nvPr/>
                </p:nvSpPr>
                <p:spPr>
                  <a:xfrm>
                    <a:off x="5220853" y="2580547"/>
                    <a:ext cx="708015" cy="2684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NL" sz="16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⃖"/>
                                  <m:ctrlPr>
                                    <a:rPr lang="en-NL" sz="16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NL" sz="16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600"/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527FB470-AE3D-B846-93ED-2FDB101F4F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0853" y="2580547"/>
                    <a:ext cx="708015" cy="268471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6838" t="-34091" r="-10256" b="-2272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915C62AB-DBFF-AA4B-910D-0026DF784E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92049" y="2882128"/>
                <a:ext cx="521805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A63710C-F422-215C-A306-81C5965FCA38}"/>
                </a:ext>
              </a:extLst>
            </p:cNvPr>
            <p:cNvGrpSpPr/>
            <p:nvPr/>
          </p:nvGrpSpPr>
          <p:grpSpPr>
            <a:xfrm>
              <a:off x="3208224" y="2155513"/>
              <a:ext cx="2547308" cy="1368054"/>
              <a:chOff x="3208224" y="2155513"/>
              <a:chExt cx="2547308" cy="1368054"/>
            </a:xfrm>
            <a:noFill/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3F809BCC-CF6C-AB44-88BC-026E04499F28}"/>
                      </a:ext>
                    </a:extLst>
                  </p:cNvPr>
                  <p:cNvSpPr txBox="1"/>
                  <p:nvPr/>
                </p:nvSpPr>
                <p:spPr>
                  <a:xfrm>
                    <a:off x="3469126" y="2572185"/>
                    <a:ext cx="591059" cy="246221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60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3F809BCC-CF6C-AB44-88BC-026E04499F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126" y="2572185"/>
                    <a:ext cx="591059" cy="246221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11340" r="-12371" b="-317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D0BF05BB-3628-1E4C-8810-E1517FEDC8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8224" y="2906867"/>
                <a:ext cx="521805" cy="0"/>
              </a:xfrm>
              <a:prstGeom prst="straightConnector1">
                <a:avLst/>
              </a:prstGeom>
              <a:grpFill/>
              <a:ln w="1905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86BF9B2-321C-F441-9CFA-475277B55E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6755" y="2155513"/>
                <a:ext cx="0" cy="435623"/>
              </a:xfrm>
              <a:prstGeom prst="straightConnector1">
                <a:avLst/>
              </a:prstGeom>
              <a:grpFill/>
              <a:ln w="1905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E19840DA-E749-134D-BFDC-3A384E28CE17}"/>
                      </a:ext>
                    </a:extLst>
                  </p:cNvPr>
                  <p:cNvSpPr txBox="1"/>
                  <p:nvPr/>
                </p:nvSpPr>
                <p:spPr>
                  <a:xfrm>
                    <a:off x="4649446" y="2225185"/>
                    <a:ext cx="600997" cy="246221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600"/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E19840DA-E749-134D-BFDC-3A384E28CE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9446" y="2225185"/>
                    <a:ext cx="600997" cy="246221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12245" r="-12245" b="-317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5DE4E600-D8FF-C24F-AB94-CE2D5AF36F83}"/>
                      </a:ext>
                    </a:extLst>
                  </p:cNvPr>
                  <p:cNvSpPr txBox="1"/>
                  <p:nvPr/>
                </p:nvSpPr>
                <p:spPr>
                  <a:xfrm>
                    <a:off x="5042516" y="3255096"/>
                    <a:ext cx="713016" cy="268471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NL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NL" sz="16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NL" sz="16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600"/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5DE4E600-D8FF-C24F-AB94-CE2D5AF36F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2516" y="3255096"/>
                    <a:ext cx="713016" cy="268471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5983" t="-31818" r="-10256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3781E52E-6776-AE4E-931A-1CA568292D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6629" y="3225987"/>
                <a:ext cx="521805" cy="0"/>
              </a:xfrm>
              <a:prstGeom prst="straightConnector1">
                <a:avLst/>
              </a:prstGeom>
              <a:grpFill/>
              <a:ln w="19050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081613-78AA-C6EB-8706-509F036FB1DE}"/>
                  </a:ext>
                </a:extLst>
              </p:cNvPr>
              <p:cNvSpPr txBox="1"/>
              <p:nvPr/>
            </p:nvSpPr>
            <p:spPr>
              <a:xfrm>
                <a:off x="961862" y="925497"/>
                <a:ext cx="9934011" cy="2995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081613-78AA-C6EB-8706-509F036FB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862" y="925497"/>
                <a:ext cx="9934011" cy="299569"/>
              </a:xfrm>
              <a:prstGeom prst="rect">
                <a:avLst/>
              </a:prstGeom>
              <a:blipFill>
                <a:blip r:embed="rId25"/>
                <a:stretch>
                  <a:fillRect l="-798" r="-859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2E883D0C-1AF5-C5C2-4B5C-12DE3E21997E}"/>
              </a:ext>
            </a:extLst>
          </p:cNvPr>
          <p:cNvSpPr txBox="1">
            <a:spLocks/>
          </p:cNvSpPr>
          <p:nvPr/>
        </p:nvSpPr>
        <p:spPr>
          <a:xfrm>
            <a:off x="755423" y="156575"/>
            <a:ext cx="10409552" cy="6336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rgbClr val="0070C0"/>
                </a:solidFill>
              </a:rPr>
              <a:t>Message Passing for Scalability</a:t>
            </a:r>
            <a:endParaRPr lang="en-NL" sz="3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CBA25E-FEE5-2742-BDF0-2EF4E70F53D8}"/>
                  </a:ext>
                </a:extLst>
              </p:cNvPr>
              <p:cNvSpPr txBox="1"/>
              <p:nvPr/>
            </p:nvSpPr>
            <p:spPr>
              <a:xfrm>
                <a:off x="203866" y="6277846"/>
                <a:ext cx="1178098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000" dirty="0">
                    <a:solidFill>
                      <a:schemeClr val="tx1"/>
                    </a:solidFill>
                  </a:rPr>
                  <a:t>I</a:t>
                </a:r>
                <a:r>
                  <a:rPr lang="en-NL" sz="2000" dirty="0">
                    <a:solidFill>
                      <a:schemeClr val="tx1"/>
                    </a:solidFill>
                  </a:rPr>
                  <a:t>f each variable has 10 possible values, then inference complexity drops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(10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L" sz="200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(10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L" sz="2000" dirty="0">
                    <a:solidFill>
                      <a:schemeClr val="tx1"/>
                    </a:solidFill>
                  </a:rPr>
                  <a:t> # additions.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CBA25E-FEE5-2742-BDF0-2EF4E70F5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66" y="6277846"/>
                <a:ext cx="11780982" cy="400110"/>
              </a:xfrm>
              <a:prstGeom prst="rect">
                <a:avLst/>
              </a:prstGeom>
              <a:blipFill>
                <a:blip r:embed="rId26"/>
                <a:stretch>
                  <a:fillRect l="-431" t="-6250" r="-1184" b="-31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BDC6F75-14C3-5B87-A96E-79A14226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41550"/>
            <a:ext cx="2743200" cy="365125"/>
          </a:xfrm>
        </p:spPr>
        <p:txBody>
          <a:bodyPr/>
          <a:lstStyle/>
          <a:p>
            <a:fld id="{55767B11-4F60-384F-98F8-8A8E9556CD7D}" type="slidenum">
              <a:rPr lang="en-NL" smtClean="0"/>
              <a:t>10</a:t>
            </a:fld>
            <a:endParaRPr lang="en-NL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07855CD-EA37-F1DC-EB4B-D9CB6461F15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3130" y="3982435"/>
            <a:ext cx="5159792" cy="5499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8E80BC-E1E6-C0FE-3F20-220492DEFB2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88359" y="4870271"/>
            <a:ext cx="7796405" cy="1260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7307B5-33DB-BAB6-FBC6-A358F7FF3AB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88359" y="4884565"/>
            <a:ext cx="7772400" cy="54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8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1F7CA-D34F-E52C-2908-21F2CB206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0FD50A-10D6-68C9-72BA-8F4C695BF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023" y="281111"/>
            <a:ext cx="5484626" cy="6295777"/>
          </a:xfrm>
          <a:prstGeom prst="rect">
            <a:avLst/>
          </a:prstGeom>
          <a:ln w="28575"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3E730C-D3FA-5EAE-9F94-F5C16A28C70E}"/>
              </a:ext>
            </a:extLst>
          </p:cNvPr>
          <p:cNvSpPr txBox="1">
            <a:spLocks/>
          </p:cNvSpPr>
          <p:nvPr/>
        </p:nvSpPr>
        <p:spPr>
          <a:xfrm>
            <a:off x="3515450" y="102071"/>
            <a:ext cx="4865056" cy="6624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165798"/>
                </a:solidFill>
                <a:latin typeface="Nexa Bold" panose="020000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200" b="0" dirty="0">
                <a:solidFill>
                  <a:srgbClr val="0070C0"/>
                </a:solidFill>
                <a:latin typeface="+mj-lt"/>
              </a:rPr>
              <a:t>Multi-agent Planning</a:t>
            </a:r>
          </a:p>
        </p:txBody>
      </p:sp>
      <p:pic>
        <p:nvPicPr>
          <p:cNvPr id="13" name="Picture 12" descr="A diagram of different colored circles and rectangles&#10;&#10;AI-generated content may be incorrect.">
            <a:extLst>
              <a:ext uri="{FF2B5EF4-FFF2-40B4-BE49-F238E27FC236}">
                <a16:creationId xmlns:a16="http://schemas.microsoft.com/office/drawing/2014/main" id="{6D7FB455-397E-97EC-7E4B-C808D0F52D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785" t="2054" r="25677" b="7749"/>
          <a:stretch/>
        </p:blipFill>
        <p:spPr>
          <a:xfrm>
            <a:off x="3248888" y="1220236"/>
            <a:ext cx="2206809" cy="2234566"/>
          </a:xfrm>
          <a:prstGeom prst="rect">
            <a:avLst/>
          </a:prstGeom>
          <a:effectLst>
            <a:glow rad="63500">
              <a:srgbClr val="145798">
                <a:alpha val="40000"/>
              </a:srgbClr>
            </a:glow>
          </a:effectLst>
        </p:spPr>
      </p:pic>
      <p:pic>
        <p:nvPicPr>
          <p:cNvPr id="14" name="Picture 13" descr="A graph of different colored circles and rectangles&#10;&#10;AI-generated content may be incorrect.">
            <a:extLst>
              <a:ext uri="{FF2B5EF4-FFF2-40B4-BE49-F238E27FC236}">
                <a16:creationId xmlns:a16="http://schemas.microsoft.com/office/drawing/2014/main" id="{64AEB913-B721-6812-8B67-DC15B04730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863" t="2941" r="25617" b="6863"/>
          <a:stretch/>
        </p:blipFill>
        <p:spPr>
          <a:xfrm>
            <a:off x="838824" y="1194434"/>
            <a:ext cx="2231389" cy="2260368"/>
          </a:xfrm>
          <a:prstGeom prst="rect">
            <a:avLst/>
          </a:prstGeom>
          <a:effectLst>
            <a:glow rad="101600">
              <a:srgbClr val="3D75AC">
                <a:alpha val="40000"/>
              </a:srgb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513B4E-7B9F-CF6C-C9D1-59DA45A7D9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2" t="13429" r="4025" b="8585"/>
          <a:stretch/>
        </p:blipFill>
        <p:spPr>
          <a:xfrm>
            <a:off x="864069" y="3613305"/>
            <a:ext cx="4529896" cy="2626926"/>
          </a:xfrm>
          <a:prstGeom prst="rect">
            <a:avLst/>
          </a:prstGeom>
          <a:effectLst>
            <a:glow rad="101600">
              <a:srgbClr val="155798">
                <a:alpha val="39000"/>
              </a:srgbClr>
            </a:glow>
          </a:effectLst>
        </p:spPr>
      </p:pic>
      <p:sp>
        <p:nvSpPr>
          <p:cNvPr id="3" name="Left Brace 2">
            <a:extLst>
              <a:ext uri="{FF2B5EF4-FFF2-40B4-BE49-F238E27FC236}">
                <a16:creationId xmlns:a16="http://schemas.microsoft.com/office/drawing/2014/main" id="{2F4D50F1-6050-B306-06E1-A2AF81EE8B25}"/>
              </a:ext>
            </a:extLst>
          </p:cNvPr>
          <p:cNvSpPr/>
          <p:nvPr/>
        </p:nvSpPr>
        <p:spPr>
          <a:xfrm>
            <a:off x="6841067" y="2562578"/>
            <a:ext cx="214489" cy="225777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72A5C2A-1D16-0BE7-FC0C-42F979B516DB}"/>
              </a:ext>
            </a:extLst>
          </p:cNvPr>
          <p:cNvSpPr/>
          <p:nvPr/>
        </p:nvSpPr>
        <p:spPr>
          <a:xfrm>
            <a:off x="6841067" y="5029201"/>
            <a:ext cx="214489" cy="31044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08C47-778F-DB37-87AB-19E0BE1859FD}"/>
              </a:ext>
            </a:extLst>
          </p:cNvPr>
          <p:cNvSpPr txBox="1"/>
          <p:nvPr/>
        </p:nvSpPr>
        <p:spPr>
          <a:xfrm>
            <a:off x="5924750" y="3454802"/>
            <a:ext cx="982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generative</a:t>
            </a:r>
          </a:p>
          <a:p>
            <a:pPr algn="r"/>
            <a:r>
              <a:rPr lang="en-US" sz="1400" dirty="0"/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121588-3C10-E7EB-AD8D-BCDF3E7210AC}"/>
              </a:ext>
            </a:extLst>
          </p:cNvPr>
          <p:cNvSpPr txBox="1"/>
          <p:nvPr/>
        </p:nvSpPr>
        <p:spPr>
          <a:xfrm>
            <a:off x="6275551" y="4926768"/>
            <a:ext cx="63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goal</a:t>
            </a:r>
          </a:p>
          <a:p>
            <a:pPr algn="r"/>
            <a:r>
              <a:rPr lang="en-US" sz="1400" dirty="0"/>
              <a:t>priors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A66C0E-260A-71F5-3771-4090A1047A4F}"/>
              </a:ext>
            </a:extLst>
          </p:cNvPr>
          <p:cNvGrpSpPr/>
          <p:nvPr/>
        </p:nvGrpSpPr>
        <p:grpSpPr>
          <a:xfrm>
            <a:off x="7418520" y="5889245"/>
            <a:ext cx="3467498" cy="513810"/>
            <a:chOff x="7418520" y="5889245"/>
            <a:chExt cx="3467498" cy="51381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71941F-9E8A-4995-5863-70D79EB25C36}"/>
                </a:ext>
              </a:extLst>
            </p:cNvPr>
            <p:cNvSpPr txBox="1"/>
            <p:nvPr/>
          </p:nvSpPr>
          <p:spPr>
            <a:xfrm>
              <a:off x="7418520" y="5889245"/>
              <a:ext cx="346749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70C0"/>
                  </a:solidFill>
                  <a:latin typeface="Nexa Bold" panose="02000000000000000000" pitchFamily="2" charset="0"/>
                </a:rPr>
                <a:t>15 lines of code!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AB83D3A-FA86-502A-DFF2-82655F15D946}"/>
                </a:ext>
              </a:extLst>
            </p:cNvPr>
            <p:cNvSpPr txBox="1"/>
            <p:nvPr/>
          </p:nvSpPr>
          <p:spPr>
            <a:xfrm>
              <a:off x="7905642" y="5941390"/>
              <a:ext cx="2978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70C0"/>
                  </a:solidFill>
                  <a:latin typeface="Nexa Bold" panose="02000000000000000000" pitchFamily="2" charset="0"/>
                </a:rPr>
                <a:t>~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6744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CD0C0D-F82D-8695-F420-A3A5A54DD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03" y="1266210"/>
            <a:ext cx="5477574" cy="45604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436DF0-A1AE-E120-7550-2D44BE4F330E}"/>
              </a:ext>
            </a:extLst>
          </p:cNvPr>
          <p:cNvSpPr txBox="1">
            <a:spLocks/>
          </p:cNvSpPr>
          <p:nvPr/>
        </p:nvSpPr>
        <p:spPr>
          <a:xfrm>
            <a:off x="2146036" y="135171"/>
            <a:ext cx="7403077" cy="662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165798"/>
                </a:solidFill>
                <a:latin typeface="Nexa Bold" panose="020000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b="0" dirty="0">
                <a:solidFill>
                  <a:srgbClr val="0070C0"/>
                </a:solidFill>
                <a:latin typeface="+mj-lt"/>
              </a:rPr>
              <a:t>Dynamic Obstacle Avoidance in </a:t>
            </a:r>
            <a:r>
              <a:rPr lang="en-US" sz="3600" b="0" dirty="0">
                <a:solidFill>
                  <a:srgbClr val="0070C0"/>
                </a:solidFill>
              </a:rPr>
              <a:t>Drone Swarms </a:t>
            </a:r>
            <a:endParaRPr lang="en-US" sz="3600" b="0" dirty="0">
              <a:solidFill>
                <a:srgbClr val="0070C0"/>
              </a:solidFill>
              <a:latin typeface="+mj-lt"/>
            </a:endParaRPr>
          </a:p>
        </p:txBody>
      </p:sp>
      <p:pic>
        <p:nvPicPr>
          <p:cNvPr id="11" name="Picture 10" descr="A group of balls in a grid&#10;&#10;AI-generated content may be incorrect.">
            <a:extLst>
              <a:ext uri="{FF2B5EF4-FFF2-40B4-BE49-F238E27FC236}">
                <a16:creationId xmlns:a16="http://schemas.microsoft.com/office/drawing/2014/main" id="{E06604AA-5E32-DEEA-A325-3B9349B281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4" r="12200"/>
          <a:stretch/>
        </p:blipFill>
        <p:spPr>
          <a:xfrm>
            <a:off x="367898" y="1563665"/>
            <a:ext cx="5046288" cy="3965530"/>
          </a:xfrm>
          <a:prstGeom prst="rect">
            <a:avLst/>
          </a:prstGeom>
          <a:effectLst>
            <a:outerShdw blurRad="63500" sx="102738" sy="102738" algn="ctr" rotWithShape="0">
              <a:srgbClr val="145798">
                <a:alpha val="40000"/>
              </a:srgbClr>
            </a:outerShdw>
          </a:effectLst>
        </p:spPr>
      </p:pic>
      <p:sp>
        <p:nvSpPr>
          <p:cNvPr id="3" name="Left Brace 2">
            <a:extLst>
              <a:ext uri="{FF2B5EF4-FFF2-40B4-BE49-F238E27FC236}">
                <a16:creationId xmlns:a16="http://schemas.microsoft.com/office/drawing/2014/main" id="{11540FB1-774D-A3ED-7BDC-D5799AA2ACC4}"/>
              </a:ext>
            </a:extLst>
          </p:cNvPr>
          <p:cNvSpPr/>
          <p:nvPr/>
        </p:nvSpPr>
        <p:spPr>
          <a:xfrm>
            <a:off x="6670571" y="2495155"/>
            <a:ext cx="214489" cy="20470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7D94446B-1045-5E39-D646-DB445481784F}"/>
              </a:ext>
            </a:extLst>
          </p:cNvPr>
          <p:cNvSpPr/>
          <p:nvPr/>
        </p:nvSpPr>
        <p:spPr>
          <a:xfrm>
            <a:off x="6670572" y="4643646"/>
            <a:ext cx="214489" cy="31044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3770E-26DA-08E6-5279-FCE8EBAC6DE0}"/>
              </a:ext>
            </a:extLst>
          </p:cNvPr>
          <p:cNvSpPr txBox="1"/>
          <p:nvPr/>
        </p:nvSpPr>
        <p:spPr>
          <a:xfrm>
            <a:off x="5754254" y="3256574"/>
            <a:ext cx="982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generative</a:t>
            </a:r>
          </a:p>
          <a:p>
            <a:pPr algn="r"/>
            <a:r>
              <a:rPr lang="en-US" sz="1400" dirty="0"/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606E05-693B-7BFB-9D89-62E01027DFCA}"/>
              </a:ext>
            </a:extLst>
          </p:cNvPr>
          <p:cNvSpPr txBox="1"/>
          <p:nvPr/>
        </p:nvSpPr>
        <p:spPr>
          <a:xfrm>
            <a:off x="6105056" y="4541213"/>
            <a:ext cx="63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goal</a:t>
            </a:r>
          </a:p>
          <a:p>
            <a:pPr algn="r"/>
            <a:r>
              <a:rPr lang="en-US" sz="1400" dirty="0"/>
              <a:t>priors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FD602F-BB8C-BA73-2D61-454D7082FA48}"/>
              </a:ext>
            </a:extLst>
          </p:cNvPr>
          <p:cNvGrpSpPr/>
          <p:nvPr/>
        </p:nvGrpSpPr>
        <p:grpSpPr>
          <a:xfrm>
            <a:off x="7418520" y="5889245"/>
            <a:ext cx="3467498" cy="513810"/>
            <a:chOff x="7418520" y="5889245"/>
            <a:chExt cx="3467498" cy="5138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890AE2D-8A97-5C94-5FE2-00120B78C84F}"/>
                </a:ext>
              </a:extLst>
            </p:cNvPr>
            <p:cNvSpPr txBox="1"/>
            <p:nvPr/>
          </p:nvSpPr>
          <p:spPr>
            <a:xfrm>
              <a:off x="7418520" y="5889245"/>
              <a:ext cx="346749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70C0"/>
                  </a:solidFill>
                  <a:latin typeface="Nexa Bold" panose="02000000000000000000" pitchFamily="2" charset="0"/>
                </a:rPr>
                <a:t>10 lines of code!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498C9F-5804-BCDB-DC78-D9225C938A03}"/>
                </a:ext>
              </a:extLst>
            </p:cNvPr>
            <p:cNvSpPr txBox="1"/>
            <p:nvPr/>
          </p:nvSpPr>
          <p:spPr>
            <a:xfrm>
              <a:off x="7905642" y="5941390"/>
              <a:ext cx="2978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70C0"/>
                  </a:solidFill>
                  <a:latin typeface="Nexa Bold" panose="02000000000000000000" pitchFamily="2" charset="0"/>
                </a:rPr>
                <a:t>~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3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B0F2A-1AD3-3F6C-CBB1-F39ED890F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9B309B-C8E8-22C0-0114-45FB9EB1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1634"/>
            <a:ext cx="2743200" cy="365125"/>
          </a:xfrm>
        </p:spPr>
        <p:txBody>
          <a:bodyPr/>
          <a:lstStyle/>
          <a:p>
            <a:fld id="{179F0A8B-17BC-3448-AF3F-C2704C45AA7C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A4C4C0-80C1-F128-D1B1-150E0672E8C5}"/>
              </a:ext>
            </a:extLst>
          </p:cNvPr>
          <p:cNvSpPr/>
          <p:nvPr/>
        </p:nvSpPr>
        <p:spPr>
          <a:xfrm>
            <a:off x="2604772" y="194821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1EF5A0-7BBF-2E1F-63B9-805625E976E7}"/>
              </a:ext>
            </a:extLst>
          </p:cNvPr>
          <p:cNvSpPr/>
          <p:nvPr/>
        </p:nvSpPr>
        <p:spPr>
          <a:xfrm>
            <a:off x="1656521" y="1876213"/>
            <a:ext cx="432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A9A4B7-9BC3-3854-0A6F-92EF4591A546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1140270" y="2092213"/>
            <a:ext cx="5162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6466E3-9470-0EB0-5E2C-DAC7552E7C07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2088521" y="2092213"/>
            <a:ext cx="5162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38C81E-B6E4-E8E7-A9EE-47B051A0442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892772" y="2092213"/>
            <a:ext cx="2981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C44F60-CFC9-03E2-63EE-E8340CB1FBEB}"/>
              </a:ext>
            </a:extLst>
          </p:cNvPr>
          <p:cNvCxnSpPr>
            <a:cxnSpLocks/>
          </p:cNvCxnSpPr>
          <p:nvPr/>
        </p:nvCxnSpPr>
        <p:spPr>
          <a:xfrm>
            <a:off x="2748772" y="2236213"/>
            <a:ext cx="0" cy="519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6784389-7293-5F7C-1CE2-B84460DA4B75}"/>
              </a:ext>
            </a:extLst>
          </p:cNvPr>
          <p:cNvSpPr/>
          <p:nvPr/>
        </p:nvSpPr>
        <p:spPr>
          <a:xfrm>
            <a:off x="2532772" y="2755399"/>
            <a:ext cx="43200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7A1AAF0-2F4B-53D5-C2A4-4E2687B40692}"/>
              </a:ext>
            </a:extLst>
          </p:cNvPr>
          <p:cNvCxnSpPr>
            <a:cxnSpLocks/>
          </p:cNvCxnSpPr>
          <p:nvPr/>
        </p:nvCxnSpPr>
        <p:spPr>
          <a:xfrm>
            <a:off x="2748772" y="3187399"/>
            <a:ext cx="0" cy="519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BBC5F94-ECA4-B7F8-F9F7-2D542287F713}"/>
              </a:ext>
            </a:extLst>
          </p:cNvPr>
          <p:cNvCxnSpPr>
            <a:cxnSpLocks/>
          </p:cNvCxnSpPr>
          <p:nvPr/>
        </p:nvCxnSpPr>
        <p:spPr>
          <a:xfrm rot="5400000">
            <a:off x="1611412" y="1618088"/>
            <a:ext cx="5162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70B8049-2575-C430-B8C5-E2F7A3B37C34}"/>
                  </a:ext>
                </a:extLst>
              </p:cNvPr>
              <p:cNvSpPr txBox="1"/>
              <p:nvPr/>
            </p:nvSpPr>
            <p:spPr>
              <a:xfrm>
                <a:off x="1255121" y="1771619"/>
                <a:ext cx="27501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70B8049-2575-C430-B8C5-E2F7A3B37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121" y="1771619"/>
                <a:ext cx="275011" cy="276999"/>
              </a:xfrm>
              <a:prstGeom prst="rect">
                <a:avLst/>
              </a:prstGeom>
              <a:blipFill>
                <a:blip r:embed="rId2"/>
                <a:stretch>
                  <a:fillRect l="-8696" r="-4348" b="-130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7A0AAED-002A-3A65-B1F9-01A0B9429A67}"/>
                  </a:ext>
                </a:extLst>
              </p:cNvPr>
              <p:cNvSpPr txBox="1"/>
              <p:nvPr/>
            </p:nvSpPr>
            <p:spPr>
              <a:xfrm>
                <a:off x="1900708" y="1402359"/>
                <a:ext cx="28155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7A0AAED-002A-3A65-B1F9-01A0B9429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708" y="1402359"/>
                <a:ext cx="281552" cy="276999"/>
              </a:xfrm>
              <a:prstGeom prst="rect">
                <a:avLst/>
              </a:prstGeom>
              <a:blipFill>
                <a:blip r:embed="rId3"/>
                <a:stretch>
                  <a:fillRect l="-13043" r="-8696" b="-181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6081B7B-6122-FF11-ECB8-EA01EE4B6E40}"/>
                  </a:ext>
                </a:extLst>
              </p:cNvPr>
              <p:cNvSpPr txBox="1"/>
              <p:nvPr/>
            </p:nvSpPr>
            <p:spPr>
              <a:xfrm>
                <a:off x="2772229" y="3293220"/>
                <a:ext cx="38508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6081B7B-6122-FF11-ECB8-EA01EE4B6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229" y="3293220"/>
                <a:ext cx="385086" cy="276999"/>
              </a:xfrm>
              <a:prstGeom prst="rect">
                <a:avLst/>
              </a:prstGeom>
              <a:blipFill>
                <a:blip r:embed="rId4"/>
                <a:stretch>
                  <a:fillRect l="-3226" b="-260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6813C85-9690-A983-CA63-8955144EC6DB}"/>
                  </a:ext>
                </a:extLst>
              </p:cNvPr>
              <p:cNvSpPr txBox="1"/>
              <p:nvPr/>
            </p:nvSpPr>
            <p:spPr>
              <a:xfrm>
                <a:off x="3003237" y="2824811"/>
                <a:ext cx="89062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6813C85-9690-A983-CA63-8955144EC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237" y="2824811"/>
                <a:ext cx="890628" cy="276999"/>
              </a:xfrm>
              <a:prstGeom prst="rect">
                <a:avLst/>
              </a:prstGeom>
              <a:blipFill>
                <a:blip r:embed="rId5"/>
                <a:stretch>
                  <a:fillRect l="-7042" t="-4348" r="-8451" b="-347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F0D22C8B-3AD1-2FA5-458D-79CF882726E4}"/>
              </a:ext>
            </a:extLst>
          </p:cNvPr>
          <p:cNvSpPr txBox="1"/>
          <p:nvPr/>
        </p:nvSpPr>
        <p:spPr>
          <a:xfrm>
            <a:off x="2563905" y="1830603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/>
              <a:t>=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F15F129-FC9E-BBED-6B13-E69040FC7AD3}"/>
              </a:ext>
            </a:extLst>
          </p:cNvPr>
          <p:cNvGrpSpPr/>
          <p:nvPr/>
        </p:nvGrpSpPr>
        <p:grpSpPr>
          <a:xfrm>
            <a:off x="1797537" y="743467"/>
            <a:ext cx="4192303" cy="3504677"/>
            <a:chOff x="1909182" y="3091657"/>
            <a:chExt cx="4192303" cy="350467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3F3DF08-F0C0-DF0D-9619-31FB6D1EA83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07006" y="4843996"/>
              <a:ext cx="3504677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BB9E1FD-3810-1CD9-C9E8-D0086388A127}"/>
                </a:ext>
              </a:extLst>
            </p:cNvPr>
            <p:cNvSpPr/>
            <p:nvPr/>
          </p:nvSpPr>
          <p:spPr>
            <a:xfrm>
              <a:off x="2788417" y="6061151"/>
              <a:ext cx="144000" cy="1429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79154B9-FFD7-03AE-8809-AF35C1DAAA9C}"/>
                </a:ext>
              </a:extLst>
            </p:cNvPr>
            <p:cNvSpPr/>
            <p:nvPr/>
          </p:nvSpPr>
          <p:spPr>
            <a:xfrm>
              <a:off x="5186811" y="6061151"/>
              <a:ext cx="144000" cy="1429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B7101A9-0D01-9554-8335-3B19F0DF27D9}"/>
                </a:ext>
              </a:extLst>
            </p:cNvPr>
            <p:cNvSpPr/>
            <p:nvPr/>
          </p:nvSpPr>
          <p:spPr>
            <a:xfrm>
              <a:off x="1909182" y="3552991"/>
              <a:ext cx="144000" cy="1429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B5EEC4D-DDB1-4F55-06C3-D8F8F2A45611}"/>
                </a:ext>
              </a:extLst>
            </p:cNvPr>
            <p:cNvSpPr/>
            <p:nvPr/>
          </p:nvSpPr>
          <p:spPr>
            <a:xfrm>
              <a:off x="4310423" y="3552991"/>
              <a:ext cx="144000" cy="1429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EEFEC3DE-104D-CC78-8925-779B22314077}"/>
                    </a:ext>
                  </a:extLst>
                </p:cNvPr>
                <p:cNvSpPr txBox="1"/>
                <p:nvPr/>
              </p:nvSpPr>
              <p:spPr>
                <a:xfrm>
                  <a:off x="5716399" y="6265090"/>
                  <a:ext cx="38508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/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EEFEC3DE-104D-CC78-8925-779B22314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6399" y="6265090"/>
                  <a:ext cx="38508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226" b="-43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0561017-CCB4-C43C-4F06-EFF79A3BF6BC}"/>
              </a:ext>
            </a:extLst>
          </p:cNvPr>
          <p:cNvGrpSpPr/>
          <p:nvPr/>
        </p:nvGrpSpPr>
        <p:grpSpPr>
          <a:xfrm>
            <a:off x="440428" y="454961"/>
            <a:ext cx="11276944" cy="2212374"/>
            <a:chOff x="552073" y="2803151"/>
            <a:chExt cx="11276944" cy="22123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B1E7ED5-9AC0-8CE4-0286-E86A00BA427E}"/>
                </a:ext>
              </a:extLst>
            </p:cNvPr>
            <p:cNvGrpSpPr/>
            <p:nvPr/>
          </p:nvGrpSpPr>
          <p:grpSpPr>
            <a:xfrm>
              <a:off x="552073" y="2803151"/>
              <a:ext cx="938527" cy="2212374"/>
              <a:chOff x="552073" y="2803151"/>
              <a:chExt cx="938527" cy="221237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10BFCA3-F046-5926-CEEA-65774E24B038}"/>
                  </a:ext>
                </a:extLst>
              </p:cNvPr>
              <p:cNvSpPr/>
              <p:nvPr/>
            </p:nvSpPr>
            <p:spPr>
              <a:xfrm>
                <a:off x="819915" y="4224403"/>
                <a:ext cx="432000" cy="43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cxnSp>
            <p:nvCxnSpPr>
              <p:cNvPr id="6" name="Elbow Connector 5">
                <a:extLst>
                  <a:ext uri="{FF2B5EF4-FFF2-40B4-BE49-F238E27FC236}">
                    <a16:creationId xmlns:a16="http://schemas.microsoft.com/office/drawing/2014/main" id="{EE6F274D-ABC3-F456-3ECF-22D6F24D4876}"/>
                  </a:ext>
                </a:extLst>
              </p:cNvPr>
              <p:cNvCxnSpPr>
                <a:cxnSpLocks/>
                <a:endCxn id="4" idx="1"/>
              </p:cNvCxnSpPr>
              <p:nvPr/>
            </p:nvCxnSpPr>
            <p:spPr>
              <a:xfrm rot="16200000" flipH="1">
                <a:off x="-118139" y="3502349"/>
                <a:ext cx="1637252" cy="238856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9D4E250-20F8-C0D5-E908-CCE208B810E3}"/>
                      </a:ext>
                    </a:extLst>
                  </p:cNvPr>
                  <p:cNvSpPr txBox="1"/>
                  <p:nvPr/>
                </p:nvSpPr>
                <p:spPr>
                  <a:xfrm>
                    <a:off x="552073" y="4738526"/>
                    <a:ext cx="938527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d>
                            <m:dPr>
                              <m:endChr m:val="|"/>
                              <m:ctrlPr>
                                <a:rPr lang="nl-NL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l-NL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bSup>
                            <m:sSubSupPr>
                              <m:ctrlPr>
                                <a:rPr lang="nl-NL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l-NL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  <m:sup>
                              <m:r>
                                <a:rPr lang="nl-NL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nl-NL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9D4E250-20F8-C0D5-E908-CCE208B810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073" y="4738526"/>
                    <a:ext cx="938527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667" t="-8333" r="-8000" b="-2916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E4055320-1FBF-33B6-5ADE-2A36387ED6AC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85003" y="3125456"/>
                    <a:ext cx="134911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oMath>
                      </m:oMathPara>
                    </a14:m>
                    <a:endParaRPr lang="en-NL" dirty="0"/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E4055320-1FBF-33B6-5ADE-2A36387ED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85003" y="3125456"/>
                    <a:ext cx="13491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1667" r="-116667" b="-1363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DF5F487-4ACB-BF01-F84E-BA8F76F5A06C}"/>
                </a:ext>
              </a:extLst>
            </p:cNvPr>
            <p:cNvGrpSpPr/>
            <p:nvPr/>
          </p:nvGrpSpPr>
          <p:grpSpPr>
            <a:xfrm>
              <a:off x="10870806" y="2818616"/>
              <a:ext cx="958211" cy="2196909"/>
              <a:chOff x="10870806" y="2818616"/>
              <a:chExt cx="958211" cy="2196909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08C81BF-26B0-C5CF-3181-5878D9FB5DE7}"/>
                  </a:ext>
                </a:extLst>
              </p:cNvPr>
              <p:cNvSpPr/>
              <p:nvPr/>
            </p:nvSpPr>
            <p:spPr>
              <a:xfrm>
                <a:off x="11090366" y="4224403"/>
                <a:ext cx="432000" cy="4320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b="1"/>
              </a:p>
            </p:txBody>
          </p:sp>
          <p:cxnSp>
            <p:nvCxnSpPr>
              <p:cNvPr id="82" name="Elbow Connector 81">
                <a:extLst>
                  <a:ext uri="{FF2B5EF4-FFF2-40B4-BE49-F238E27FC236}">
                    <a16:creationId xmlns:a16="http://schemas.microsoft.com/office/drawing/2014/main" id="{1CCAC6FB-A0D0-546A-8147-535D361E9C6B}"/>
                  </a:ext>
                </a:extLst>
              </p:cNvPr>
              <p:cNvCxnSpPr>
                <a:cxnSpLocks/>
                <a:endCxn id="9" idx="3"/>
              </p:cNvCxnSpPr>
              <p:nvPr/>
            </p:nvCxnSpPr>
            <p:spPr>
              <a:xfrm rot="5400000">
                <a:off x="10837976" y="3503007"/>
                <a:ext cx="1621787" cy="253005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82806D7B-FB16-A463-91C4-4757D5B48A20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1340070" y="3127128"/>
                    <a:ext cx="396045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oMath>
                      </m:oMathPara>
                    </a14:m>
                    <a:endParaRPr lang="en-NL" dirty="0"/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82806D7B-FB16-A463-91C4-4757D5B48A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1340070" y="3127128"/>
                    <a:ext cx="396045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3636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FC6FF295-7297-7AC6-2D2A-97B51AF95567}"/>
                      </a:ext>
                    </a:extLst>
                  </p:cNvPr>
                  <p:cNvSpPr txBox="1"/>
                  <p:nvPr/>
                </p:nvSpPr>
                <p:spPr>
                  <a:xfrm>
                    <a:off x="10870806" y="4738526"/>
                    <a:ext cx="958211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d>
                            <m:dPr>
                              <m:endChr m:val="|"/>
                              <m:ctrlPr>
                                <a:rPr lang="nl-N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  <m:sSubSup>
                            <m:sSubSupPr>
                              <m:ctrlPr>
                                <a:rPr lang="nl-N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l-N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  <m:sup>
                              <m:r>
                                <a:rPr lang="nl-N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nl-N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FC6FF295-7297-7AC6-2D2A-97B51AF955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0806" y="4738526"/>
                    <a:ext cx="95821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195" t="-8333" r="-7792" b="-2916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7C3C4CD-734F-1920-0B15-0F6E560AD87A}"/>
              </a:ext>
            </a:extLst>
          </p:cNvPr>
          <p:cNvCxnSpPr/>
          <p:nvPr/>
        </p:nvCxnSpPr>
        <p:spPr>
          <a:xfrm>
            <a:off x="3291259" y="2092213"/>
            <a:ext cx="362403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6A5F97-8875-CBD4-9894-01681271F6A8}"/>
              </a:ext>
            </a:extLst>
          </p:cNvPr>
          <p:cNvGrpSpPr/>
          <p:nvPr/>
        </p:nvGrpSpPr>
        <p:grpSpPr>
          <a:xfrm>
            <a:off x="3530272" y="1359962"/>
            <a:ext cx="7459738" cy="2346623"/>
            <a:chOff x="3641917" y="3708152"/>
            <a:chExt cx="7459738" cy="2346623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6C70169-4A07-65BC-AFD3-FA9F7813B0AC}"/>
                </a:ext>
              </a:extLst>
            </p:cNvPr>
            <p:cNvSpPr/>
            <p:nvPr/>
          </p:nvSpPr>
          <p:spPr>
            <a:xfrm>
              <a:off x="7208630" y="5102628"/>
              <a:ext cx="432000" cy="432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3379FBC-19E4-8113-CB59-06147AA0A082}"/>
                </a:ext>
              </a:extLst>
            </p:cNvPr>
            <p:cNvSpPr/>
            <p:nvPr/>
          </p:nvSpPr>
          <p:spPr>
            <a:xfrm>
              <a:off x="10225122" y="5102628"/>
              <a:ext cx="432000" cy="432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DCB18E7-1011-3CF3-C4CF-852D020400AE}"/>
                </a:ext>
              </a:extLst>
            </p:cNvPr>
            <p:cNvSpPr/>
            <p:nvPr/>
          </p:nvSpPr>
          <p:spPr>
            <a:xfrm>
              <a:off x="7214944" y="5103589"/>
              <a:ext cx="432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B8AB79B4-AAF5-E04A-B65B-6496A8FA1E28}"/>
                </a:ext>
              </a:extLst>
            </p:cNvPr>
            <p:cNvCxnSpPr>
              <a:cxnSpLocks/>
            </p:cNvCxnSpPr>
            <p:nvPr/>
          </p:nvCxnSpPr>
          <p:spPr>
            <a:xfrm>
              <a:off x="7430944" y="5535589"/>
              <a:ext cx="0" cy="519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04405CA-5A1C-9BBD-05AB-0000C2F3512F}"/>
                    </a:ext>
                  </a:extLst>
                </p:cNvPr>
                <p:cNvSpPr txBox="1"/>
                <p:nvPr/>
              </p:nvSpPr>
              <p:spPr>
                <a:xfrm>
                  <a:off x="7482977" y="5641410"/>
                  <a:ext cx="38508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04405CA-5A1C-9BBD-05AB-0000C2F351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2977" y="5641410"/>
                  <a:ext cx="385086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2581" r="-22581" b="-217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716C1E5-D065-486D-C857-80B71BC169EE}"/>
                </a:ext>
              </a:extLst>
            </p:cNvPr>
            <p:cNvSpPr/>
            <p:nvPr/>
          </p:nvSpPr>
          <p:spPr>
            <a:xfrm>
              <a:off x="10224580" y="5102839"/>
              <a:ext cx="432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2D5FCCE-3E10-E1FD-FD66-542EA197A8B3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580" y="5534839"/>
              <a:ext cx="0" cy="519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E96D41A-11BC-FA42-3D29-3144F7A03F37}"/>
                    </a:ext>
                  </a:extLst>
                </p:cNvPr>
                <p:cNvSpPr txBox="1"/>
                <p:nvPr/>
              </p:nvSpPr>
              <p:spPr>
                <a:xfrm>
                  <a:off x="10464037" y="5640660"/>
                  <a:ext cx="38508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E96D41A-11BC-FA42-3D29-3144F7A03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4037" y="5640660"/>
                  <a:ext cx="385086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6452" b="-217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33C946-1D0F-5B9A-2911-446E8005874D}"/>
                </a:ext>
              </a:extLst>
            </p:cNvPr>
            <p:cNvSpPr/>
            <p:nvPr/>
          </p:nvSpPr>
          <p:spPr>
            <a:xfrm>
              <a:off x="9360442" y="4224403"/>
              <a:ext cx="432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b="1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BD6EAD6-FB01-9F78-B86D-A9C1F3B4A3AF}"/>
                </a:ext>
              </a:extLst>
            </p:cNvPr>
            <p:cNvCxnSpPr>
              <a:cxnSpLocks/>
            </p:cNvCxnSpPr>
            <p:nvPr/>
          </p:nvCxnSpPr>
          <p:spPr>
            <a:xfrm>
              <a:off x="10585404" y="4440403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09651DB-D0B5-3E7F-92F7-FDCFCD43D9FC}"/>
                </a:ext>
              </a:extLst>
            </p:cNvPr>
            <p:cNvCxnSpPr>
              <a:cxnSpLocks/>
            </p:cNvCxnSpPr>
            <p:nvPr/>
          </p:nvCxnSpPr>
          <p:spPr>
            <a:xfrm>
              <a:off x="9781153" y="4440403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2F2774F-8337-DBBD-88CA-A70A9825AF72}"/>
                </a:ext>
              </a:extLst>
            </p:cNvPr>
            <p:cNvCxnSpPr>
              <a:cxnSpLocks/>
            </p:cNvCxnSpPr>
            <p:nvPr/>
          </p:nvCxnSpPr>
          <p:spPr>
            <a:xfrm>
              <a:off x="8844191" y="4440403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A7124E7-89F0-6BE5-C298-66AD10D328E8}"/>
                </a:ext>
              </a:extLst>
            </p:cNvPr>
            <p:cNvCxnSpPr>
              <a:cxnSpLocks/>
            </p:cNvCxnSpPr>
            <p:nvPr/>
          </p:nvCxnSpPr>
          <p:spPr>
            <a:xfrm>
              <a:off x="7563680" y="4440403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319E498-8797-4BB0-6F14-3E8DEE013EDE}"/>
                </a:ext>
              </a:extLst>
            </p:cNvPr>
            <p:cNvCxnSpPr>
              <a:cxnSpLocks/>
            </p:cNvCxnSpPr>
            <p:nvPr/>
          </p:nvCxnSpPr>
          <p:spPr>
            <a:xfrm>
              <a:off x="6759426" y="4440403"/>
              <a:ext cx="51625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0ECDC5B-6DDC-4F80-FDAA-4A63A99981D9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>
              <a:off x="5413138" y="4440403"/>
              <a:ext cx="9174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92A9A39-05A8-C9AE-A406-663BE3CEC5CD}"/>
                </a:ext>
              </a:extLst>
            </p:cNvPr>
            <p:cNvCxnSpPr>
              <a:cxnSpLocks/>
            </p:cNvCxnSpPr>
            <p:nvPr/>
          </p:nvCxnSpPr>
          <p:spPr>
            <a:xfrm>
              <a:off x="4608887" y="4440403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98F34D-A80B-BE33-8CC8-4601C40220C8}"/>
                </a:ext>
              </a:extLst>
            </p:cNvPr>
            <p:cNvSpPr/>
            <p:nvPr/>
          </p:nvSpPr>
          <p:spPr>
            <a:xfrm>
              <a:off x="5114811" y="4296403"/>
              <a:ext cx="288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D5FD9DA-7A75-174B-6B1E-4A4F5BD9DBDD}"/>
                </a:ext>
              </a:extLst>
            </p:cNvPr>
            <p:cNvCxnSpPr>
              <a:cxnSpLocks/>
            </p:cNvCxnSpPr>
            <p:nvPr/>
          </p:nvCxnSpPr>
          <p:spPr>
            <a:xfrm>
              <a:off x="5258811" y="4584403"/>
              <a:ext cx="0" cy="519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33D653A-1175-47A2-B76A-C139F7625385}"/>
                </a:ext>
              </a:extLst>
            </p:cNvPr>
            <p:cNvSpPr/>
            <p:nvPr/>
          </p:nvSpPr>
          <p:spPr>
            <a:xfrm>
              <a:off x="5042811" y="5103589"/>
              <a:ext cx="432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8B78A28-DB8F-DCFB-9116-FA46A912A61C}"/>
                </a:ext>
              </a:extLst>
            </p:cNvPr>
            <p:cNvCxnSpPr>
              <a:cxnSpLocks/>
            </p:cNvCxnSpPr>
            <p:nvPr/>
          </p:nvCxnSpPr>
          <p:spPr>
            <a:xfrm>
              <a:off x="5258811" y="5535589"/>
              <a:ext cx="0" cy="519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1CFBC38-3B10-E87F-50C5-2A54ED286C1D}"/>
                </a:ext>
              </a:extLst>
            </p:cNvPr>
            <p:cNvSpPr/>
            <p:nvPr/>
          </p:nvSpPr>
          <p:spPr>
            <a:xfrm>
              <a:off x="7275680" y="4296403"/>
              <a:ext cx="288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5061F06-B3FD-2B4C-69F0-6975644FA4E9}"/>
                </a:ext>
              </a:extLst>
            </p:cNvPr>
            <p:cNvCxnSpPr>
              <a:cxnSpLocks/>
            </p:cNvCxnSpPr>
            <p:nvPr/>
          </p:nvCxnSpPr>
          <p:spPr>
            <a:xfrm>
              <a:off x="7419680" y="4584403"/>
              <a:ext cx="0" cy="519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8CBFFE5-0E6D-0936-69A3-C4C490B10804}"/>
                </a:ext>
              </a:extLst>
            </p:cNvPr>
            <p:cNvSpPr/>
            <p:nvPr/>
          </p:nvSpPr>
          <p:spPr>
            <a:xfrm>
              <a:off x="10292172" y="4296403"/>
              <a:ext cx="288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91F07D0-A83B-1045-A6C8-6D61D82A5DA6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172" y="4584403"/>
              <a:ext cx="0" cy="519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686A0C4-0EC5-6510-AABA-EA2E40A56F01}"/>
                </a:ext>
              </a:extLst>
            </p:cNvPr>
            <p:cNvSpPr/>
            <p:nvPr/>
          </p:nvSpPr>
          <p:spPr>
            <a:xfrm>
              <a:off x="4169407" y="4224403"/>
              <a:ext cx="432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284E772-8677-43DC-9853-117347F0B72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124298" y="3966278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B2CA48B-1145-C1FE-FE47-931BD7144675}"/>
                </a:ext>
              </a:extLst>
            </p:cNvPr>
            <p:cNvSpPr/>
            <p:nvPr/>
          </p:nvSpPr>
          <p:spPr>
            <a:xfrm>
              <a:off x="6330610" y="4224403"/>
              <a:ext cx="432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9EB641A-0913-2416-F529-6709F02C4B4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285501" y="3966278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807101F-ADE8-2412-9BE6-10F5AA0ABDE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315674" y="3966278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8AECE28-FD15-BD61-06E3-519C58711638}"/>
                    </a:ext>
                  </a:extLst>
                </p:cNvPr>
                <p:cNvSpPr txBox="1"/>
                <p:nvPr/>
              </p:nvSpPr>
              <p:spPr>
                <a:xfrm>
                  <a:off x="3641917" y="4118766"/>
                  <a:ext cx="2467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8AECE28-FD15-BD61-06E3-519C58711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1917" y="4118766"/>
                  <a:ext cx="246781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9048" r="-80952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8665EA0-A49F-53F1-E726-7F3B2B500BFE}"/>
                    </a:ext>
                  </a:extLst>
                </p:cNvPr>
                <p:cNvSpPr txBox="1"/>
                <p:nvPr/>
              </p:nvSpPr>
              <p:spPr>
                <a:xfrm>
                  <a:off x="5843878" y="4119808"/>
                  <a:ext cx="2467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8665EA0-A49F-53F1-E726-7F3B2B500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3878" y="4119808"/>
                  <a:ext cx="246781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0000" r="-5000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F81DD54-FF13-95E0-36FA-724966AC02E2}"/>
                    </a:ext>
                  </a:extLst>
                </p:cNvPr>
                <p:cNvSpPr txBox="1"/>
                <p:nvPr/>
              </p:nvSpPr>
              <p:spPr>
                <a:xfrm>
                  <a:off x="8803801" y="4118250"/>
                  <a:ext cx="2467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F81DD54-FF13-95E0-36FA-724966AC02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3801" y="4118250"/>
                  <a:ext cx="246781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5000" r="-100000" b="-869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A54ABEA-C3F6-7852-6FB8-70FC3490BB4A}"/>
                    </a:ext>
                  </a:extLst>
                </p:cNvPr>
                <p:cNvSpPr txBox="1"/>
                <p:nvPr/>
              </p:nvSpPr>
              <p:spPr>
                <a:xfrm>
                  <a:off x="10516488" y="3966278"/>
                  <a:ext cx="2467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A54ABEA-C3F6-7852-6FB8-70FC3490B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6488" y="3966278"/>
                  <a:ext cx="246781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5000" r="-15000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BDA1A56B-750F-E547-03A5-C85EF6B26F9D}"/>
                    </a:ext>
                  </a:extLst>
                </p:cNvPr>
                <p:cNvSpPr txBox="1"/>
                <p:nvPr/>
              </p:nvSpPr>
              <p:spPr>
                <a:xfrm>
                  <a:off x="4435572" y="3750548"/>
                  <a:ext cx="2467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BDA1A56B-750F-E547-03A5-C85EF6B26F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5572" y="3750548"/>
                  <a:ext cx="246781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0000" r="-10000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0CD4CDC-8958-8352-4F30-6144B4C8EEB3}"/>
                    </a:ext>
                  </a:extLst>
                </p:cNvPr>
                <p:cNvSpPr txBox="1"/>
                <p:nvPr/>
              </p:nvSpPr>
              <p:spPr>
                <a:xfrm>
                  <a:off x="6636336" y="3750547"/>
                  <a:ext cx="21267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0CD4CDC-8958-8352-4F30-6144B4C8EE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6336" y="3750547"/>
                  <a:ext cx="212676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7778" r="-116667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B31FACF-1130-3E82-F6FE-7D98C5A430BE}"/>
                    </a:ext>
                  </a:extLst>
                </p:cNvPr>
                <p:cNvSpPr txBox="1"/>
                <p:nvPr/>
              </p:nvSpPr>
              <p:spPr>
                <a:xfrm>
                  <a:off x="9633327" y="3752644"/>
                  <a:ext cx="2467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B31FACF-1130-3E82-F6FE-7D98C5A43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3327" y="3752644"/>
                  <a:ext cx="246781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23810" r="-14286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0EC0B94C-AAEA-9A4A-8A5C-297F133AE234}"/>
                </a:ext>
              </a:extLst>
            </p:cNvPr>
            <p:cNvCxnSpPr>
              <a:cxnSpLocks/>
            </p:cNvCxnSpPr>
            <p:nvPr/>
          </p:nvCxnSpPr>
          <p:spPr>
            <a:xfrm>
              <a:off x="3864614" y="4440403"/>
              <a:ext cx="2981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E29E9B5-87B6-8601-ACFA-F058B9C789E2}"/>
                    </a:ext>
                  </a:extLst>
                </p:cNvPr>
                <p:cNvSpPr txBox="1"/>
                <p:nvPr/>
              </p:nvSpPr>
              <p:spPr>
                <a:xfrm>
                  <a:off x="4886921" y="5641410"/>
                  <a:ext cx="38508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E29E9B5-87B6-8601-ACFA-F058B9C789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6921" y="5641410"/>
                  <a:ext cx="385086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217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8FE75E0-174D-3026-9139-370662AF6B37}"/>
                    </a:ext>
                  </a:extLst>
                </p:cNvPr>
                <p:cNvSpPr txBox="1"/>
                <p:nvPr/>
              </p:nvSpPr>
              <p:spPr>
                <a:xfrm>
                  <a:off x="5704573" y="4705496"/>
                  <a:ext cx="160710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8FE75E0-174D-3026-9139-370662AF6B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4573" y="4705496"/>
                  <a:ext cx="1607107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3937" r="-5512" b="-3478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928594D-0EE0-D636-BCB3-A64A437A2D99}"/>
                </a:ext>
              </a:extLst>
            </p:cNvPr>
            <p:cNvSpPr txBox="1"/>
            <p:nvPr/>
          </p:nvSpPr>
          <p:spPr>
            <a:xfrm>
              <a:off x="10258122" y="4194258"/>
              <a:ext cx="3770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800" dirty="0"/>
                <a:t>=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848660B-1E50-3752-1F3D-8A4C9EB9F0E4}"/>
                </a:ext>
              </a:extLst>
            </p:cNvPr>
            <p:cNvSpPr txBox="1"/>
            <p:nvPr/>
          </p:nvSpPr>
          <p:spPr>
            <a:xfrm>
              <a:off x="7234095" y="4182276"/>
              <a:ext cx="3770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800" dirty="0"/>
                <a:t>=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3AE3B93-B186-59AE-96F2-31790A12542B}"/>
                </a:ext>
              </a:extLst>
            </p:cNvPr>
            <p:cNvSpPr txBox="1"/>
            <p:nvPr/>
          </p:nvSpPr>
          <p:spPr>
            <a:xfrm>
              <a:off x="5078009" y="4180703"/>
              <a:ext cx="3770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800" dirty="0"/>
                <a:t>=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1270458-6448-C6DC-682E-6D1B345BACC4}"/>
                </a:ext>
              </a:extLst>
            </p:cNvPr>
            <p:cNvCxnSpPr>
              <a:cxnSpLocks/>
            </p:cNvCxnSpPr>
            <p:nvPr/>
          </p:nvCxnSpPr>
          <p:spPr>
            <a:xfrm>
              <a:off x="8198285" y="4440403"/>
              <a:ext cx="528181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8E3F5A1-F016-B4ED-7956-3A5E23A94A41}"/>
              </a:ext>
            </a:extLst>
          </p:cNvPr>
          <p:cNvGrpSpPr/>
          <p:nvPr/>
        </p:nvGrpSpPr>
        <p:grpSpPr>
          <a:xfrm>
            <a:off x="5776504" y="902301"/>
            <a:ext cx="5044675" cy="336987"/>
            <a:chOff x="5888149" y="3475775"/>
            <a:chExt cx="5044675" cy="3369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533AE199-9CAE-AE9C-AA52-EBC2F24A6DA1}"/>
                    </a:ext>
                  </a:extLst>
                </p:cNvPr>
                <p:cNvSpPr txBox="1"/>
                <p:nvPr/>
              </p:nvSpPr>
              <p:spPr>
                <a:xfrm>
                  <a:off x="5888149" y="3500112"/>
                  <a:ext cx="2548133" cy="312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nl-NL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nl-NL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NL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nl-NL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nl-NL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l-GR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l-GR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  <m:r>
                          <a:rPr lang="nl-NL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N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533AE199-9CAE-AE9C-AA52-EBC2F24A6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8149" y="3500112"/>
                  <a:ext cx="2548133" cy="312650"/>
                </a:xfrm>
                <a:prstGeom prst="rect">
                  <a:avLst/>
                </a:prstGeom>
                <a:blipFill>
                  <a:blip r:embed="rId22"/>
                  <a:stretch>
                    <a:fillRect l="-2488" r="-1990" b="-1923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13B68AE-D7B6-2E94-9C9F-9B4351C64759}"/>
                    </a:ext>
                  </a:extLst>
                </p:cNvPr>
                <p:cNvSpPr txBox="1"/>
                <p:nvPr/>
              </p:nvSpPr>
              <p:spPr>
                <a:xfrm>
                  <a:off x="8745430" y="3475775"/>
                  <a:ext cx="2187394" cy="312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nl-NL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nl-NL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NL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l-GR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l-GR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  <m:r>
                          <a:rPr lang="nl-NL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N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13B68AE-D7B6-2E94-9C9F-9B4351C64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5430" y="3475775"/>
                  <a:ext cx="2187394" cy="312650"/>
                </a:xfrm>
                <a:prstGeom prst="rect">
                  <a:avLst/>
                </a:prstGeom>
                <a:blipFill>
                  <a:blip r:embed="rId23"/>
                  <a:stretch>
                    <a:fillRect l="-2299" r="-1724" b="-2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0" name="Title 1">
            <a:extLst>
              <a:ext uri="{FF2B5EF4-FFF2-40B4-BE49-F238E27FC236}">
                <a16:creationId xmlns:a16="http://schemas.microsoft.com/office/drawing/2014/main" id="{220E9B70-AB3B-4257-8C73-34BB1D9E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1" y="111153"/>
            <a:ext cx="11570677" cy="623627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Active Inference-based Planning by Message Passing?</a:t>
            </a:r>
            <a:br>
              <a:rPr lang="en-US" sz="2800" dirty="0">
                <a:solidFill>
                  <a:srgbClr val="0070C0"/>
                </a:solidFill>
              </a:rPr>
            </a:br>
            <a:endParaRPr lang="en-US" sz="1800" dirty="0">
              <a:solidFill>
                <a:schemeClr val="accent6"/>
              </a:solidFill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59C38E0-0D94-C1D2-F621-0CE81A8A9001}"/>
              </a:ext>
            </a:extLst>
          </p:cNvPr>
          <p:cNvGrpSpPr/>
          <p:nvPr/>
        </p:nvGrpSpPr>
        <p:grpSpPr>
          <a:xfrm>
            <a:off x="327380" y="4177760"/>
            <a:ext cx="10370403" cy="1858411"/>
            <a:chOff x="264745" y="617938"/>
            <a:chExt cx="10370403" cy="1858411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A0FDAC9C-E881-E408-5877-39B147E8D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616773" y="1140747"/>
              <a:ext cx="6390854" cy="1335602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067B61A-0E1F-21D4-9106-3782B3018565}"/>
                </a:ext>
              </a:extLst>
            </p:cNvPr>
            <p:cNvSpPr txBox="1"/>
            <p:nvPr/>
          </p:nvSpPr>
          <p:spPr>
            <a:xfrm>
              <a:off x="264745" y="617938"/>
              <a:ext cx="103704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“If FE minimization is the only process, then planning should minimize </a:t>
              </a:r>
              <a:r>
                <a:rPr lang="en-US" sz="2000" i="1" dirty="0"/>
                <a:t>Expected</a:t>
              </a:r>
              <a:r>
                <a:rPr lang="en-US" sz="2000" dirty="0"/>
                <a:t> FE (EFE)”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D9D02A0A-5505-27B1-A8D5-F4B431F63639}"/>
              </a:ext>
            </a:extLst>
          </p:cNvPr>
          <p:cNvSpPr txBox="1"/>
          <p:nvPr/>
        </p:nvSpPr>
        <p:spPr>
          <a:xfrm>
            <a:off x="327380" y="6181313"/>
            <a:ext cx="9381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Challenge</a:t>
            </a:r>
            <a:r>
              <a:rPr lang="en-US" sz="2000" dirty="0">
                <a:solidFill>
                  <a:srgbClr val="FF0000"/>
                </a:solidFill>
              </a:rPr>
              <a:t>: Under which generative model does MP lead to EFE-based planning?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DF9CDA6-6D01-5BD1-B865-2565B6FC705A}"/>
              </a:ext>
            </a:extLst>
          </p:cNvPr>
          <p:cNvGrpSpPr/>
          <p:nvPr/>
        </p:nvGrpSpPr>
        <p:grpSpPr>
          <a:xfrm>
            <a:off x="5781486" y="935773"/>
            <a:ext cx="3873778" cy="301336"/>
            <a:chOff x="5888149" y="3475775"/>
            <a:chExt cx="3873778" cy="3013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FC06507-5549-3FC8-6A53-A198EAFF058C}"/>
                    </a:ext>
                  </a:extLst>
                </p:cNvPr>
                <p:cNvSpPr txBox="1"/>
                <p:nvPr/>
              </p:nvSpPr>
              <p:spPr>
                <a:xfrm>
                  <a:off x="5888149" y="3500112"/>
                  <a:ext cx="119686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nl-NL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nl-NL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NL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nl-NL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nl-NL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?</m:t>
                        </m:r>
                      </m:oMath>
                    </m:oMathPara>
                  </a14:m>
                  <a:endParaRPr lang="en-N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FC06507-5549-3FC8-6A53-A198EAFF05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8149" y="3500112"/>
                  <a:ext cx="1196866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5263" t="-8696" r="-4211" b="-3478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60FA300A-5ED4-85A4-DD50-46E8D9DED3C0}"/>
                    </a:ext>
                  </a:extLst>
                </p:cNvPr>
                <p:cNvSpPr txBox="1"/>
                <p:nvPr/>
              </p:nvSpPr>
              <p:spPr>
                <a:xfrm>
                  <a:off x="8745430" y="3475775"/>
                  <a:ext cx="101649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nl-NL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nl-NL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NL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?</m:t>
                        </m:r>
                      </m:oMath>
                    </m:oMathPara>
                  </a14:m>
                  <a:endParaRPr lang="en-N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60FA300A-5ED4-85A4-DD50-46E8D9DED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5430" y="3475775"/>
                  <a:ext cx="1016497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6173" t="-4348" r="-4938" b="-3913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0347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7558E-6E9B-E32E-23A1-E1829A0C5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F0E17D-6CF2-0F85-4D76-68BEF018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14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187685-79F1-B689-CC30-450C526D857A}"/>
              </a:ext>
            </a:extLst>
          </p:cNvPr>
          <p:cNvSpPr txBox="1"/>
          <p:nvPr/>
        </p:nvSpPr>
        <p:spPr>
          <a:xfrm>
            <a:off x="310661" y="1535083"/>
            <a:ext cx="2914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Define VFE functional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A9DC645-BC60-4EC6-D079-D98EA8571F96}"/>
              </a:ext>
            </a:extLst>
          </p:cNvPr>
          <p:cNvGrpSpPr/>
          <p:nvPr/>
        </p:nvGrpSpPr>
        <p:grpSpPr>
          <a:xfrm>
            <a:off x="6167774" y="2877996"/>
            <a:ext cx="4592870" cy="3026315"/>
            <a:chOff x="6162824" y="1867554"/>
            <a:chExt cx="4592870" cy="302631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39F9A31-A165-42FF-CA44-4B10E32950CC}"/>
                </a:ext>
              </a:extLst>
            </p:cNvPr>
            <p:cNvSpPr/>
            <p:nvPr/>
          </p:nvSpPr>
          <p:spPr>
            <a:xfrm>
              <a:off x="7203680" y="4092186"/>
              <a:ext cx="432000" cy="432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00D3C91-824B-A897-A9ED-FAF4A5882564}"/>
                </a:ext>
              </a:extLst>
            </p:cNvPr>
            <p:cNvSpPr/>
            <p:nvPr/>
          </p:nvSpPr>
          <p:spPr>
            <a:xfrm>
              <a:off x="10220172" y="4092186"/>
              <a:ext cx="432000" cy="432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C45999E-8015-95D6-A288-9FBC625AF369}"/>
                </a:ext>
              </a:extLst>
            </p:cNvPr>
            <p:cNvSpPr/>
            <p:nvPr/>
          </p:nvSpPr>
          <p:spPr>
            <a:xfrm>
              <a:off x="6327426" y="2252553"/>
              <a:ext cx="432000" cy="432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C87940F-E3A9-950D-30A9-AC395E2C8BC9}"/>
                </a:ext>
              </a:extLst>
            </p:cNvPr>
            <p:cNvSpPr/>
            <p:nvPr/>
          </p:nvSpPr>
          <p:spPr>
            <a:xfrm>
              <a:off x="9357599" y="2252553"/>
              <a:ext cx="432000" cy="432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CBA7C7F4-A2CE-A5A1-C5A3-AB4B2B6E3D45}"/>
                    </a:ext>
                  </a:extLst>
                </p:cNvPr>
                <p:cNvSpPr txBox="1"/>
                <p:nvPr/>
              </p:nvSpPr>
              <p:spPr>
                <a:xfrm>
                  <a:off x="6162824" y="1867554"/>
                  <a:ext cx="81035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̃"/>
                            <m:ctrlPr>
                              <a:rPr lang="nl-NL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nl-NL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NL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nl-NL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CBA7C7F4-A2CE-A5A1-C5A3-AB4B2B6E3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2824" y="1867554"/>
                  <a:ext cx="81035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7692" r="-9231" b="-3478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D95FDC2-5605-22C0-FD3A-98C32C1C93B2}"/>
                    </a:ext>
                  </a:extLst>
                </p:cNvPr>
                <p:cNvSpPr txBox="1"/>
                <p:nvPr/>
              </p:nvSpPr>
              <p:spPr>
                <a:xfrm>
                  <a:off x="9258364" y="1867554"/>
                  <a:ext cx="6299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̃"/>
                            <m:ctrlPr>
                              <a:rPr lang="nl-NL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nl-NL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NL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nl-NL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D95FDC2-5605-22C0-FD3A-98C32C1C9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8364" y="1867554"/>
                  <a:ext cx="62998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9804" r="-11765" b="-3478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05A1E13-8226-B814-BE4C-D5515B150450}"/>
                    </a:ext>
                  </a:extLst>
                </p:cNvPr>
                <p:cNvSpPr txBox="1"/>
                <p:nvPr/>
              </p:nvSpPr>
              <p:spPr>
                <a:xfrm>
                  <a:off x="10137576" y="4616870"/>
                  <a:ext cx="61811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̃"/>
                            <m:ctrlPr>
                              <a:rPr lang="nl-NL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nl-N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nl-N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05A1E13-8226-B814-BE4C-D5515B1504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76" y="4616870"/>
                  <a:ext cx="61811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0000" t="-4348" r="-12000" b="-3043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8A8496DE-9790-A8A6-859F-F0D2035937AC}"/>
                    </a:ext>
                  </a:extLst>
                </p:cNvPr>
                <p:cNvSpPr txBox="1"/>
                <p:nvPr/>
              </p:nvSpPr>
              <p:spPr>
                <a:xfrm>
                  <a:off x="7037017" y="4616870"/>
                  <a:ext cx="79848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̃"/>
                            <m:ctrlPr>
                              <a:rPr lang="nl-NL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NL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nl-N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nl-N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8A8496DE-9790-A8A6-859F-F0D203593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7017" y="4616870"/>
                  <a:ext cx="79848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7813" t="-4348" r="-9375" b="-3043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68007D6-78CE-365D-7D09-542AE459DE49}"/>
              </a:ext>
            </a:extLst>
          </p:cNvPr>
          <p:cNvGrpSpPr/>
          <p:nvPr/>
        </p:nvGrpSpPr>
        <p:grpSpPr>
          <a:xfrm>
            <a:off x="552073" y="2803151"/>
            <a:ext cx="11276944" cy="3897962"/>
            <a:chOff x="552073" y="2803151"/>
            <a:chExt cx="11276944" cy="389796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02DD64-948F-9746-7F63-2BE9E48561B3}"/>
                </a:ext>
              </a:extLst>
            </p:cNvPr>
            <p:cNvSpPr/>
            <p:nvPr/>
          </p:nvSpPr>
          <p:spPr>
            <a:xfrm>
              <a:off x="819915" y="4224403"/>
              <a:ext cx="432000" cy="43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8E092A-9B9B-C5AD-9D50-58ABF071E734}"/>
                </a:ext>
              </a:extLst>
            </p:cNvPr>
            <p:cNvSpPr/>
            <p:nvPr/>
          </p:nvSpPr>
          <p:spPr>
            <a:xfrm>
              <a:off x="2716417" y="4296403"/>
              <a:ext cx="288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E68D969A-1007-67E7-17DA-DA3704FAF41F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 rot="16200000" flipH="1">
              <a:off x="-118139" y="3502349"/>
              <a:ext cx="1637252" cy="238856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88E2C5-AABF-FAD1-2622-04473E67CB5A}"/>
                </a:ext>
              </a:extLst>
            </p:cNvPr>
            <p:cNvSpPr/>
            <p:nvPr/>
          </p:nvSpPr>
          <p:spPr>
            <a:xfrm>
              <a:off x="1768166" y="4224403"/>
              <a:ext cx="432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1ABF09-2CB9-59FC-B65E-F92C99EB10C6}"/>
                </a:ext>
              </a:extLst>
            </p:cNvPr>
            <p:cNvSpPr/>
            <p:nvPr/>
          </p:nvSpPr>
          <p:spPr>
            <a:xfrm>
              <a:off x="9360442" y="4224403"/>
              <a:ext cx="432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b="1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332A077-BA3C-D040-EDB3-E17FD804A7EE}"/>
                </a:ext>
              </a:extLst>
            </p:cNvPr>
            <p:cNvSpPr/>
            <p:nvPr/>
          </p:nvSpPr>
          <p:spPr>
            <a:xfrm>
              <a:off x="11090366" y="4224403"/>
              <a:ext cx="432000" cy="4320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b="1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D7E59D1-DE18-02CD-6FFD-28A4C45724D3}"/>
                </a:ext>
              </a:extLst>
            </p:cNvPr>
            <p:cNvCxnSpPr>
              <a:stCxn id="4" idx="3"/>
              <a:endCxn id="7" idx="1"/>
            </p:cNvCxnSpPr>
            <p:nvPr/>
          </p:nvCxnSpPr>
          <p:spPr>
            <a:xfrm>
              <a:off x="1251915" y="4440403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4D3BC92-A3D1-66B8-332E-8861FA7B519C}"/>
                </a:ext>
              </a:extLst>
            </p:cNvPr>
            <p:cNvCxnSpPr>
              <a:cxnSpLocks/>
              <a:stCxn id="7" idx="3"/>
              <a:endCxn id="5" idx="1"/>
            </p:cNvCxnSpPr>
            <p:nvPr/>
          </p:nvCxnSpPr>
          <p:spPr>
            <a:xfrm>
              <a:off x="2200166" y="4440403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21B47D2-1535-9752-B044-25476191010F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3004417" y="4440403"/>
              <a:ext cx="2981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304E13F-A362-53C8-B2F7-BF7C794812EB}"/>
                </a:ext>
              </a:extLst>
            </p:cNvPr>
            <p:cNvCxnSpPr>
              <a:cxnSpLocks/>
            </p:cNvCxnSpPr>
            <p:nvPr/>
          </p:nvCxnSpPr>
          <p:spPr>
            <a:xfrm>
              <a:off x="2860417" y="4584403"/>
              <a:ext cx="0" cy="519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2263A89-B596-AC98-7DCE-8C945076918B}"/>
                </a:ext>
              </a:extLst>
            </p:cNvPr>
            <p:cNvCxnSpPr>
              <a:cxnSpLocks/>
            </p:cNvCxnSpPr>
            <p:nvPr/>
          </p:nvCxnSpPr>
          <p:spPr>
            <a:xfrm>
              <a:off x="10585404" y="4440403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BF4C186-1236-8B05-4D0B-2358D660686B}"/>
                </a:ext>
              </a:extLst>
            </p:cNvPr>
            <p:cNvCxnSpPr>
              <a:cxnSpLocks/>
            </p:cNvCxnSpPr>
            <p:nvPr/>
          </p:nvCxnSpPr>
          <p:spPr>
            <a:xfrm>
              <a:off x="9781153" y="4440403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7539F7F-9B5B-9BA5-A333-D71AEC959E4B}"/>
                </a:ext>
              </a:extLst>
            </p:cNvPr>
            <p:cNvCxnSpPr>
              <a:cxnSpLocks/>
            </p:cNvCxnSpPr>
            <p:nvPr/>
          </p:nvCxnSpPr>
          <p:spPr>
            <a:xfrm>
              <a:off x="8844191" y="4440403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8D977B8-2756-3397-D1C0-753341B67B6F}"/>
                </a:ext>
              </a:extLst>
            </p:cNvPr>
            <p:cNvCxnSpPr>
              <a:cxnSpLocks/>
            </p:cNvCxnSpPr>
            <p:nvPr/>
          </p:nvCxnSpPr>
          <p:spPr>
            <a:xfrm>
              <a:off x="7563680" y="4440403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25A8A94-23BA-C402-2CFE-0ECCF5ED66AD}"/>
                </a:ext>
              </a:extLst>
            </p:cNvPr>
            <p:cNvCxnSpPr>
              <a:cxnSpLocks/>
            </p:cNvCxnSpPr>
            <p:nvPr/>
          </p:nvCxnSpPr>
          <p:spPr>
            <a:xfrm>
              <a:off x="6759426" y="4440403"/>
              <a:ext cx="51625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041E4AB-DE1E-F8CA-D210-2E3BBF46B738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>
              <a:off x="5413138" y="4440403"/>
              <a:ext cx="9174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E6F41EE-0B82-8760-7066-5353D57B621D}"/>
                </a:ext>
              </a:extLst>
            </p:cNvPr>
            <p:cNvCxnSpPr>
              <a:cxnSpLocks/>
            </p:cNvCxnSpPr>
            <p:nvPr/>
          </p:nvCxnSpPr>
          <p:spPr>
            <a:xfrm>
              <a:off x="4608887" y="4440403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58BD488-68AB-37E0-13CC-711F613D73AF}"/>
                </a:ext>
              </a:extLst>
            </p:cNvPr>
            <p:cNvSpPr/>
            <p:nvPr/>
          </p:nvSpPr>
          <p:spPr>
            <a:xfrm>
              <a:off x="2644417" y="5103589"/>
              <a:ext cx="432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9910EEA-CEE0-46AF-1669-9938A64E6EC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07006" y="4843996"/>
              <a:ext cx="3504677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34FB470-6375-E27D-A4E2-DC1021DC81AA}"/>
                </a:ext>
              </a:extLst>
            </p:cNvPr>
            <p:cNvCxnSpPr>
              <a:cxnSpLocks/>
            </p:cNvCxnSpPr>
            <p:nvPr/>
          </p:nvCxnSpPr>
          <p:spPr>
            <a:xfrm>
              <a:off x="2860417" y="5535589"/>
              <a:ext cx="0" cy="519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B0CAAD6-0B6F-CB90-3FC0-696FA1130D3B}"/>
                </a:ext>
              </a:extLst>
            </p:cNvPr>
            <p:cNvSpPr/>
            <p:nvPr/>
          </p:nvSpPr>
          <p:spPr>
            <a:xfrm>
              <a:off x="2788417" y="6061151"/>
              <a:ext cx="144000" cy="1429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CB59491-B910-97F5-4834-1587E654F01C}"/>
                </a:ext>
              </a:extLst>
            </p:cNvPr>
            <p:cNvSpPr/>
            <p:nvPr/>
          </p:nvSpPr>
          <p:spPr>
            <a:xfrm>
              <a:off x="5114811" y="4296403"/>
              <a:ext cx="288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885775E-2C6B-2CF2-F14B-002738B7D517}"/>
                </a:ext>
              </a:extLst>
            </p:cNvPr>
            <p:cNvCxnSpPr>
              <a:cxnSpLocks/>
            </p:cNvCxnSpPr>
            <p:nvPr/>
          </p:nvCxnSpPr>
          <p:spPr>
            <a:xfrm>
              <a:off x="5258811" y="4584403"/>
              <a:ext cx="0" cy="519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3B66DF3-339C-5992-50AF-9D7EF58E0718}"/>
                </a:ext>
              </a:extLst>
            </p:cNvPr>
            <p:cNvSpPr/>
            <p:nvPr/>
          </p:nvSpPr>
          <p:spPr>
            <a:xfrm>
              <a:off x="5042811" y="5103589"/>
              <a:ext cx="432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7615ABB-E21B-587F-9B29-64DFCEE6167A}"/>
                </a:ext>
              </a:extLst>
            </p:cNvPr>
            <p:cNvCxnSpPr>
              <a:cxnSpLocks/>
            </p:cNvCxnSpPr>
            <p:nvPr/>
          </p:nvCxnSpPr>
          <p:spPr>
            <a:xfrm>
              <a:off x="5258811" y="5535589"/>
              <a:ext cx="0" cy="519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FCACAF3-3D2A-F374-AAE4-9BFB7022BEC7}"/>
                </a:ext>
              </a:extLst>
            </p:cNvPr>
            <p:cNvSpPr/>
            <p:nvPr/>
          </p:nvSpPr>
          <p:spPr>
            <a:xfrm>
              <a:off x="5186811" y="6061151"/>
              <a:ext cx="144000" cy="1429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4153107-1C27-3665-A0C9-357C5A5D1471}"/>
                </a:ext>
              </a:extLst>
            </p:cNvPr>
            <p:cNvSpPr/>
            <p:nvPr/>
          </p:nvSpPr>
          <p:spPr>
            <a:xfrm>
              <a:off x="7275680" y="4296403"/>
              <a:ext cx="288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C93B257-234F-3908-0A71-CA294D1A4BAE}"/>
                </a:ext>
              </a:extLst>
            </p:cNvPr>
            <p:cNvCxnSpPr>
              <a:cxnSpLocks/>
            </p:cNvCxnSpPr>
            <p:nvPr/>
          </p:nvCxnSpPr>
          <p:spPr>
            <a:xfrm>
              <a:off x="7419680" y="4584403"/>
              <a:ext cx="0" cy="519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381CE87-752B-5B22-DDCF-6457B410C590}"/>
                </a:ext>
              </a:extLst>
            </p:cNvPr>
            <p:cNvSpPr/>
            <p:nvPr/>
          </p:nvSpPr>
          <p:spPr>
            <a:xfrm>
              <a:off x="10292172" y="4296403"/>
              <a:ext cx="288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BB2E6B7-B13B-CEAD-001C-879ACCF22199}"/>
                </a:ext>
              </a:extLst>
            </p:cNvPr>
            <p:cNvCxnSpPr>
              <a:cxnSpLocks/>
            </p:cNvCxnSpPr>
            <p:nvPr/>
          </p:nvCxnSpPr>
          <p:spPr>
            <a:xfrm>
              <a:off x="10436172" y="4584403"/>
              <a:ext cx="0" cy="5191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D9C6C1A-CF63-33C1-12B9-4488F9AB915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23057" y="3966278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E87AB8A-C19E-DA02-004A-40E9987E9B46}"/>
                </a:ext>
              </a:extLst>
            </p:cNvPr>
            <p:cNvSpPr/>
            <p:nvPr/>
          </p:nvSpPr>
          <p:spPr>
            <a:xfrm>
              <a:off x="1909182" y="3552991"/>
              <a:ext cx="144000" cy="1429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B85F17A-9AAB-7AA6-C69A-73B04593F4B5}"/>
                </a:ext>
              </a:extLst>
            </p:cNvPr>
            <p:cNvSpPr/>
            <p:nvPr/>
          </p:nvSpPr>
          <p:spPr>
            <a:xfrm>
              <a:off x="4169407" y="4224403"/>
              <a:ext cx="432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72DD1B8-2AE0-9E88-2149-7E902FD31B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124298" y="3966278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8724B3A-AA35-8C84-1F04-ACF0EEAD27D4}"/>
                </a:ext>
              </a:extLst>
            </p:cNvPr>
            <p:cNvSpPr/>
            <p:nvPr/>
          </p:nvSpPr>
          <p:spPr>
            <a:xfrm>
              <a:off x="4310423" y="3552991"/>
              <a:ext cx="144000" cy="1429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1839E96-E56D-758F-368C-374707371E59}"/>
                </a:ext>
              </a:extLst>
            </p:cNvPr>
            <p:cNvSpPr/>
            <p:nvPr/>
          </p:nvSpPr>
          <p:spPr>
            <a:xfrm>
              <a:off x="6330610" y="4224403"/>
              <a:ext cx="432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0BC0C74-2DB1-167F-6EC1-D9E233CCEDD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285501" y="3966278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A604F93-F073-CAB5-707C-76B06079E55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315674" y="3966278"/>
              <a:ext cx="5162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BBCA4F6-5334-D905-A5C7-F8C85CA05973}"/>
                    </a:ext>
                  </a:extLst>
                </p:cNvPr>
                <p:cNvSpPr txBox="1"/>
                <p:nvPr/>
              </p:nvSpPr>
              <p:spPr>
                <a:xfrm>
                  <a:off x="552073" y="4738526"/>
                  <a:ext cx="93852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d>
                          <m:dPr>
                            <m:endChr m:val="|"/>
                            <m:ctrlPr>
                              <a:rPr lang="nl-NL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NL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sSubSup>
                          <m:sSubSupPr>
                            <m:ctrlPr>
                              <a:rPr lang="nl-NL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nl-NL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sub>
                          <m:sup>
                            <m:r>
                              <a:rPr lang="nl-NL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nl-NL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BBCA4F6-5334-D905-A5C7-F8C85CA05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73" y="4738526"/>
                  <a:ext cx="938527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6667" t="-8333" r="-8000" b="-291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AF7DCA3E-011A-74D2-DCFC-7F274FA9C835}"/>
                    </a:ext>
                  </a:extLst>
                </p:cNvPr>
                <p:cNvSpPr txBox="1"/>
                <p:nvPr/>
              </p:nvSpPr>
              <p:spPr>
                <a:xfrm flipH="1">
                  <a:off x="685003" y="3125456"/>
                  <a:ext cx="13491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sub>
                          <m: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AF7DCA3E-011A-74D2-DCFC-7F274FA9C8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85003" y="3125456"/>
                  <a:ext cx="134911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41667" r="-116667" b="-136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DD267A5-B3E9-0FD5-B9FB-7BC2AC9C2DF3}"/>
                    </a:ext>
                  </a:extLst>
                </p:cNvPr>
                <p:cNvSpPr txBox="1"/>
                <p:nvPr/>
              </p:nvSpPr>
              <p:spPr>
                <a:xfrm>
                  <a:off x="1366766" y="4119809"/>
                  <a:ext cx="27501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8DD267A5-B3E9-0FD5-B9FB-7BC2AC9C2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6766" y="4119809"/>
                  <a:ext cx="275011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3043" r="-8696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6A8C281-E882-4A3D-BDBA-CA533E4A6725}"/>
                    </a:ext>
                  </a:extLst>
                </p:cNvPr>
                <p:cNvSpPr txBox="1"/>
                <p:nvPr/>
              </p:nvSpPr>
              <p:spPr>
                <a:xfrm>
                  <a:off x="2012353" y="3750549"/>
                  <a:ext cx="281552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6A8C281-E882-4A3D-BDBA-CA533E4A67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2353" y="3750549"/>
                  <a:ext cx="28155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3043" r="-8696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1908D12-65D8-E758-8A05-14E24C9DCF41}"/>
                    </a:ext>
                  </a:extLst>
                </p:cNvPr>
                <p:cNvSpPr txBox="1"/>
                <p:nvPr/>
              </p:nvSpPr>
              <p:spPr>
                <a:xfrm>
                  <a:off x="3641917" y="4118766"/>
                  <a:ext cx="2467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1908D12-65D8-E758-8A05-14E24C9DCF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1917" y="4118766"/>
                  <a:ext cx="246781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9048" r="-80952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1ADCEDD-689C-432B-E668-EF6DABBF7B6C}"/>
                    </a:ext>
                  </a:extLst>
                </p:cNvPr>
                <p:cNvSpPr txBox="1"/>
                <p:nvPr/>
              </p:nvSpPr>
              <p:spPr>
                <a:xfrm>
                  <a:off x="5843878" y="4119808"/>
                  <a:ext cx="2467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1ADCEDD-689C-432B-E668-EF6DABBF7B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3878" y="4119808"/>
                  <a:ext cx="246781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0000" r="-5000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3B25ADF-4562-9BFA-F0E4-8F455BD0D6BA}"/>
                    </a:ext>
                  </a:extLst>
                </p:cNvPr>
                <p:cNvSpPr txBox="1"/>
                <p:nvPr/>
              </p:nvSpPr>
              <p:spPr>
                <a:xfrm>
                  <a:off x="8803801" y="4118250"/>
                  <a:ext cx="2467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3B25ADF-4562-9BFA-F0E4-8F455BD0D6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3801" y="4118250"/>
                  <a:ext cx="246781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5000" r="-100000" b="-869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A37A2C6-FEBB-9883-7F08-852D7DA92EC4}"/>
                    </a:ext>
                  </a:extLst>
                </p:cNvPr>
                <p:cNvSpPr txBox="1"/>
                <p:nvPr/>
              </p:nvSpPr>
              <p:spPr>
                <a:xfrm>
                  <a:off x="10516488" y="3966278"/>
                  <a:ext cx="2467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A37A2C6-FEBB-9883-7F08-852D7DA92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6488" y="3966278"/>
                  <a:ext cx="246781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5000" r="-15000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C973042F-6AF5-82F7-59EE-8F859EF96B2C}"/>
                    </a:ext>
                  </a:extLst>
                </p:cNvPr>
                <p:cNvSpPr txBox="1"/>
                <p:nvPr/>
              </p:nvSpPr>
              <p:spPr>
                <a:xfrm>
                  <a:off x="4435572" y="3750548"/>
                  <a:ext cx="2467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C973042F-6AF5-82F7-59EE-8F859EF96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5572" y="3750548"/>
                  <a:ext cx="246781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0000" r="-10000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37CD4C6-EC4F-768C-F4D0-8758CC83AD7E}"/>
                    </a:ext>
                  </a:extLst>
                </p:cNvPr>
                <p:cNvSpPr txBox="1"/>
                <p:nvPr/>
              </p:nvSpPr>
              <p:spPr>
                <a:xfrm flipH="1">
                  <a:off x="5987878" y="3750547"/>
                  <a:ext cx="648458" cy="27697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37CD4C6-EC4F-768C-F4D0-8758CC83A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987878" y="3750547"/>
                  <a:ext cx="648458" cy="276971"/>
                </a:xfrm>
                <a:prstGeom prst="rect">
                  <a:avLst/>
                </a:prstGeom>
                <a:blipFill>
                  <a:blip r:embed="rId18"/>
                  <a:stretch>
                    <a:fillRect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28330043-380F-CD73-D5E0-07AB7E5ECCC2}"/>
                    </a:ext>
                  </a:extLst>
                </p:cNvPr>
                <p:cNvSpPr txBox="1"/>
                <p:nvPr/>
              </p:nvSpPr>
              <p:spPr>
                <a:xfrm>
                  <a:off x="9633327" y="3752644"/>
                  <a:ext cx="24678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28330043-380F-CD73-D5E0-07AB7E5EC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3327" y="3752644"/>
                  <a:ext cx="246781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23810" r="-14286" b="-130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F6845BE8-D221-5224-913D-9A6F2571E764}"/>
                </a:ext>
              </a:extLst>
            </p:cNvPr>
            <p:cNvCxnSpPr>
              <a:cxnSpLocks/>
            </p:cNvCxnSpPr>
            <p:nvPr/>
          </p:nvCxnSpPr>
          <p:spPr>
            <a:xfrm>
              <a:off x="3864614" y="4440403"/>
              <a:ext cx="2981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9327362-AF05-A820-251F-6EC177E6F272}"/>
                    </a:ext>
                  </a:extLst>
                </p:cNvPr>
                <p:cNvSpPr txBox="1"/>
                <p:nvPr/>
              </p:nvSpPr>
              <p:spPr>
                <a:xfrm>
                  <a:off x="2883874" y="5641410"/>
                  <a:ext cx="38508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9327362-AF05-A820-251F-6EC177E6F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3874" y="5641410"/>
                  <a:ext cx="385086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3226" b="-217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B7A1061D-04A7-389B-6FD1-3D0D36606B9B}"/>
                    </a:ext>
                  </a:extLst>
                </p:cNvPr>
                <p:cNvSpPr txBox="1"/>
                <p:nvPr/>
              </p:nvSpPr>
              <p:spPr>
                <a:xfrm>
                  <a:off x="4886921" y="5641410"/>
                  <a:ext cx="38508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B7A1061D-04A7-389B-6FD1-3D0D36606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6921" y="5641410"/>
                  <a:ext cx="385086" cy="276999"/>
                </a:xfrm>
                <a:prstGeom prst="rect">
                  <a:avLst/>
                </a:prstGeom>
                <a:blipFill>
                  <a:blip r:embed="rId21"/>
                  <a:stretch>
                    <a:fillRect b="-217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E38AD822-094C-AC2F-9756-71F74255EF0B}"/>
                    </a:ext>
                  </a:extLst>
                </p:cNvPr>
                <p:cNvSpPr txBox="1"/>
                <p:nvPr/>
              </p:nvSpPr>
              <p:spPr>
                <a:xfrm>
                  <a:off x="3114882" y="5173001"/>
                  <a:ext cx="89062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E38AD822-094C-AC2F-9756-71F74255E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4882" y="5173001"/>
                  <a:ext cx="890628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7042" r="-9859" b="-3478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A2671A8-D328-169B-A0F9-A8F32048B56D}"/>
                    </a:ext>
                  </a:extLst>
                </p:cNvPr>
                <p:cNvSpPr txBox="1"/>
                <p:nvPr/>
              </p:nvSpPr>
              <p:spPr>
                <a:xfrm>
                  <a:off x="5704573" y="4705496"/>
                  <a:ext cx="160710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A2671A8-D328-169B-A0F9-A8F32048B5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4573" y="4705496"/>
                  <a:ext cx="1607107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3937" r="-5512" b="-3478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BFCC9FE-39E7-CAFA-CD40-00BD33B6CAAC}"/>
                </a:ext>
              </a:extLst>
            </p:cNvPr>
            <p:cNvSpPr txBox="1"/>
            <p:nvPr/>
          </p:nvSpPr>
          <p:spPr>
            <a:xfrm>
              <a:off x="10258122" y="4194258"/>
              <a:ext cx="3770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800" dirty="0"/>
                <a:t>=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0FD13A4-DAF0-D4B6-4A8A-9E51EC1DE193}"/>
                </a:ext>
              </a:extLst>
            </p:cNvPr>
            <p:cNvSpPr txBox="1"/>
            <p:nvPr/>
          </p:nvSpPr>
          <p:spPr>
            <a:xfrm>
              <a:off x="2675550" y="4178793"/>
              <a:ext cx="3770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800" dirty="0"/>
                <a:t>=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B8E119C-A9C2-D197-F787-423133C8F168}"/>
                </a:ext>
              </a:extLst>
            </p:cNvPr>
            <p:cNvSpPr txBox="1"/>
            <p:nvPr/>
          </p:nvSpPr>
          <p:spPr>
            <a:xfrm>
              <a:off x="7234095" y="4182276"/>
              <a:ext cx="3770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800" dirty="0"/>
                <a:t>=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9E0DBCD-F30E-0EE1-6811-3A630FBB8035}"/>
                </a:ext>
              </a:extLst>
            </p:cNvPr>
            <p:cNvSpPr txBox="1"/>
            <p:nvPr/>
          </p:nvSpPr>
          <p:spPr>
            <a:xfrm>
              <a:off x="5078009" y="4180703"/>
              <a:ext cx="3770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2800" dirty="0"/>
                <a:t>=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CE0BCE59-13D0-8FD2-1FCD-0EAE25E0B965}"/>
                    </a:ext>
                  </a:extLst>
                </p:cNvPr>
                <p:cNvSpPr txBox="1"/>
                <p:nvPr/>
              </p:nvSpPr>
              <p:spPr>
                <a:xfrm>
                  <a:off x="5716399" y="6424114"/>
                  <a:ext cx="38508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/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CE0BCE59-13D0-8FD2-1FCD-0EAE25E0B9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6399" y="6424114"/>
                  <a:ext cx="385086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226" b="-43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Elbow Connector 81">
              <a:extLst>
                <a:ext uri="{FF2B5EF4-FFF2-40B4-BE49-F238E27FC236}">
                  <a16:creationId xmlns:a16="http://schemas.microsoft.com/office/drawing/2014/main" id="{50F2BD8E-4EF0-A1FC-6433-C745040E4CE7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rot="5400000">
              <a:off x="10837976" y="3503007"/>
              <a:ext cx="1621787" cy="253005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F6493AAE-4A4D-40DF-AFD4-C3F3B4DBB302}"/>
                    </a:ext>
                  </a:extLst>
                </p:cNvPr>
                <p:cNvSpPr txBox="1"/>
                <p:nvPr/>
              </p:nvSpPr>
              <p:spPr>
                <a:xfrm flipH="1">
                  <a:off x="11340070" y="3127128"/>
                  <a:ext cx="396045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sub>
                          <m: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F6493AAE-4A4D-40DF-AFD4-C3F3B4DBB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340070" y="3127128"/>
                  <a:ext cx="396045" cy="276999"/>
                </a:xfrm>
                <a:prstGeom prst="rect">
                  <a:avLst/>
                </a:prstGeom>
                <a:blipFill>
                  <a:blip r:embed="rId25"/>
                  <a:stretch>
                    <a:fillRect b="-136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822E2CB-96E1-F1EB-E6D3-2712EFC0F2AB}"/>
                    </a:ext>
                  </a:extLst>
                </p:cNvPr>
                <p:cNvSpPr txBox="1"/>
                <p:nvPr/>
              </p:nvSpPr>
              <p:spPr>
                <a:xfrm>
                  <a:off x="10870806" y="4738526"/>
                  <a:ext cx="95821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d>
                          <m:dPr>
                            <m:endChr m:val="|"/>
                            <m:ctrlPr>
                              <a:rPr lang="nl-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NL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  <m:sSubSup>
                          <m:sSubSupPr>
                            <m:ctrlPr>
                              <a:rPr lang="nl-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nl-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sub>
                          <m:sup>
                            <m:r>
                              <a:rPr lang="nl-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nl-NL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NL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822E2CB-96E1-F1EB-E6D3-2712EFC0F2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0806" y="4738526"/>
                  <a:ext cx="958211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5195" t="-8333" r="-7792" b="-291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1135CBB-EF15-B01A-8081-E0E6CFC1D26D}"/>
                </a:ext>
              </a:extLst>
            </p:cNvPr>
            <p:cNvCxnSpPr/>
            <p:nvPr/>
          </p:nvCxnSpPr>
          <p:spPr>
            <a:xfrm>
              <a:off x="3402904" y="4440403"/>
              <a:ext cx="362403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D1F60F9-F092-EA6D-C22B-5ADEE05A319C}"/>
                </a:ext>
              </a:extLst>
            </p:cNvPr>
            <p:cNvCxnSpPr>
              <a:cxnSpLocks/>
            </p:cNvCxnSpPr>
            <p:nvPr/>
          </p:nvCxnSpPr>
          <p:spPr>
            <a:xfrm>
              <a:off x="8198285" y="4440403"/>
              <a:ext cx="528181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A00C9CC0-6318-028D-263D-E58390327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1" y="111153"/>
            <a:ext cx="11570677" cy="672367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EFE-based Planning by Message Passing</a:t>
            </a:r>
            <a:br>
              <a:rPr lang="en-US" sz="2800" dirty="0">
                <a:solidFill>
                  <a:srgbClr val="0070C0"/>
                </a:solidFill>
              </a:rPr>
            </a:b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17E3C5-43F7-E3B5-F0C3-9E61E6AA37E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25241" y="968840"/>
            <a:ext cx="5527054" cy="173020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9A97110-BF86-1AA1-0A7B-3F929A33A236}"/>
              </a:ext>
            </a:extLst>
          </p:cNvPr>
          <p:cNvGrpSpPr/>
          <p:nvPr/>
        </p:nvGrpSpPr>
        <p:grpSpPr>
          <a:xfrm>
            <a:off x="6568446" y="3328605"/>
            <a:ext cx="2636915" cy="646150"/>
            <a:chOff x="6568446" y="3328605"/>
            <a:chExt cx="2636915" cy="6461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A696E51-B2F7-DFDE-AA0E-D1E487005243}"/>
                    </a:ext>
                  </a:extLst>
                </p:cNvPr>
                <p:cNvSpPr txBox="1"/>
                <p:nvPr/>
              </p:nvSpPr>
              <p:spPr>
                <a:xfrm>
                  <a:off x="6851896" y="3328605"/>
                  <a:ext cx="2353465" cy="2779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nl-NL" sz="16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NL" sz="16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sz="16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nl-NL" sz="16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nl-NL" sz="16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l-GR" sz="16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l-GR" sz="16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600" b="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l-NL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  <m:r>
                          <a:rPr lang="en-US" sz="16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NL" sz="16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A696E51-B2F7-DFDE-AA0E-D1E487005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1896" y="3328605"/>
                  <a:ext cx="2353465" cy="277961"/>
                </a:xfrm>
                <a:prstGeom prst="rect">
                  <a:avLst/>
                </a:prstGeom>
                <a:blipFill>
                  <a:blip r:embed="rId28"/>
                  <a:stretch>
                    <a:fillRect l="-1613" r="-3226" b="-2608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E813F6D-A603-A16D-F7C4-8642F2C5D8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68446" y="3624473"/>
              <a:ext cx="513932" cy="350282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636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E7D7E3-3249-7732-1B78-7B3744FE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58F5626-A73B-2CD3-3631-1733210B1CCE}"/>
              </a:ext>
            </a:extLst>
          </p:cNvPr>
          <p:cNvGrpSpPr>
            <a:grpSpLocks noChangeAspect="1"/>
          </p:cNvGrpSpPr>
          <p:nvPr/>
        </p:nvGrpSpPr>
        <p:grpSpPr>
          <a:xfrm>
            <a:off x="2510821" y="918116"/>
            <a:ext cx="7098961" cy="2451197"/>
            <a:chOff x="552073" y="2803151"/>
            <a:chExt cx="11341154" cy="391598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E8653DA-F81C-4AE6-14DE-E5EF113F2A9A}"/>
                </a:ext>
              </a:extLst>
            </p:cNvPr>
            <p:cNvGrpSpPr/>
            <p:nvPr/>
          </p:nvGrpSpPr>
          <p:grpSpPr>
            <a:xfrm>
              <a:off x="6170399" y="2877763"/>
              <a:ext cx="4634857" cy="3044334"/>
              <a:chOff x="6162824" y="1867554"/>
              <a:chExt cx="4634857" cy="304433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7E61713-25AF-0843-374E-252E65C127AA}"/>
                  </a:ext>
                </a:extLst>
              </p:cNvPr>
              <p:cNvSpPr/>
              <p:nvPr/>
            </p:nvSpPr>
            <p:spPr>
              <a:xfrm>
                <a:off x="7203680" y="4092186"/>
                <a:ext cx="432000" cy="4320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6179D54-719A-A0DD-016A-9DFC82DED556}"/>
                  </a:ext>
                </a:extLst>
              </p:cNvPr>
              <p:cNvSpPr/>
              <p:nvPr/>
            </p:nvSpPr>
            <p:spPr>
              <a:xfrm>
                <a:off x="10220172" y="4092186"/>
                <a:ext cx="432000" cy="4320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B7F38CE-F0E4-9CE3-4833-674B8C456113}"/>
                  </a:ext>
                </a:extLst>
              </p:cNvPr>
              <p:cNvSpPr/>
              <p:nvPr/>
            </p:nvSpPr>
            <p:spPr>
              <a:xfrm>
                <a:off x="6327426" y="2252553"/>
                <a:ext cx="432000" cy="4320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0F5495E-830B-00C3-CE6B-05C5A1F44A0A}"/>
                  </a:ext>
                </a:extLst>
              </p:cNvPr>
              <p:cNvSpPr/>
              <p:nvPr/>
            </p:nvSpPr>
            <p:spPr>
              <a:xfrm>
                <a:off x="9357599" y="2252553"/>
                <a:ext cx="432000" cy="4320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17E997A-AE8E-1189-3112-A402A8BB2A60}"/>
                      </a:ext>
                    </a:extLst>
                  </p:cNvPr>
                  <p:cNvSpPr txBox="1"/>
                  <p:nvPr/>
                </p:nvSpPr>
                <p:spPr>
                  <a:xfrm>
                    <a:off x="6162824" y="1867554"/>
                    <a:ext cx="868256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̃"/>
                              <m:ctrlPr>
                                <a:rPr lang="nl-NL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nl-NL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nl-NL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nl-NL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nl-NL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nl-NL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17E997A-AE8E-1189-3112-A402A8BB2A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62824" y="1867554"/>
                    <a:ext cx="868256" cy="29501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6818" r="-9091" b="-3125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9E8033EC-7F15-9550-CEC0-5FE3380C8AF1}"/>
                      </a:ext>
                    </a:extLst>
                  </p:cNvPr>
                  <p:cNvSpPr txBox="1"/>
                  <p:nvPr/>
                </p:nvSpPr>
                <p:spPr>
                  <a:xfrm>
                    <a:off x="9258361" y="1867554"/>
                    <a:ext cx="672702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̃"/>
                              <m:ctrlPr>
                                <a:rPr lang="nl-NL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nl-NL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nl-NL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nl-NL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nl-NL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nl-NL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9E8033EC-7F15-9550-CEC0-5FE3380C8A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58361" y="1867554"/>
                    <a:ext cx="672702" cy="29501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8824" r="-11765" b="-3125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4CAB2588-DB82-3A9B-01C7-7AC5C517951D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7577" y="4616869"/>
                    <a:ext cx="660104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̃"/>
                              <m:ctrlPr>
                                <a:rPr lang="nl-NL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nl-NL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nl-NL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nl-NL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4CAB2588-DB82-3A9B-01C7-7AC5C51795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7577" y="4616869"/>
                    <a:ext cx="660104" cy="29501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8824" r="-11765" b="-3125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2074F45E-55ED-1041-7AD4-6123EE0E2A30}"/>
                      </a:ext>
                    </a:extLst>
                  </p:cNvPr>
                  <p:cNvSpPr txBox="1"/>
                  <p:nvPr/>
                </p:nvSpPr>
                <p:spPr>
                  <a:xfrm>
                    <a:off x="7037018" y="4616869"/>
                    <a:ext cx="855655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̃"/>
                              <m:ctrlPr>
                                <a:rPr lang="nl-NL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nl-NL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nl-NL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1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nl-NL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2074F45E-55ED-1041-7AD4-6123EE0E2A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7018" y="4616869"/>
                    <a:ext cx="855655" cy="29501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6977" r="-9302" b="-3125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72F1D15-E514-18BD-A27C-5219683E5563}"/>
                </a:ext>
              </a:extLst>
            </p:cNvPr>
            <p:cNvGrpSpPr/>
            <p:nvPr/>
          </p:nvGrpSpPr>
          <p:grpSpPr>
            <a:xfrm>
              <a:off x="552073" y="2803151"/>
              <a:ext cx="11341154" cy="3915981"/>
              <a:chOff x="552073" y="2803151"/>
              <a:chExt cx="11341154" cy="3915981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04BC904-166C-3704-62EF-F71B19E35366}"/>
                  </a:ext>
                </a:extLst>
              </p:cNvPr>
              <p:cNvSpPr/>
              <p:nvPr/>
            </p:nvSpPr>
            <p:spPr>
              <a:xfrm>
                <a:off x="819915" y="4224403"/>
                <a:ext cx="432000" cy="43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9A26619-77B0-316E-DE7A-57E986ED57EF}"/>
                  </a:ext>
                </a:extLst>
              </p:cNvPr>
              <p:cNvSpPr/>
              <p:nvPr/>
            </p:nvSpPr>
            <p:spPr>
              <a:xfrm>
                <a:off x="2716417" y="4296403"/>
                <a:ext cx="288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cxnSp>
            <p:nvCxnSpPr>
              <p:cNvPr id="23" name="Elbow Connector 22">
                <a:extLst>
                  <a:ext uri="{FF2B5EF4-FFF2-40B4-BE49-F238E27FC236}">
                    <a16:creationId xmlns:a16="http://schemas.microsoft.com/office/drawing/2014/main" id="{F36F99A3-60A4-69BC-3F88-0F606DE9C1C4}"/>
                  </a:ext>
                </a:extLst>
              </p:cNvPr>
              <p:cNvCxnSpPr>
                <a:cxnSpLocks/>
                <a:endCxn id="21" idx="1"/>
              </p:cNvCxnSpPr>
              <p:nvPr/>
            </p:nvCxnSpPr>
            <p:spPr>
              <a:xfrm rot="16200000" flipH="1">
                <a:off x="-118139" y="3502349"/>
                <a:ext cx="1637252" cy="238856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C095388-0C2F-97C5-456D-6C33EA9A263E}"/>
                  </a:ext>
                </a:extLst>
              </p:cNvPr>
              <p:cNvSpPr/>
              <p:nvPr/>
            </p:nvSpPr>
            <p:spPr>
              <a:xfrm>
                <a:off x="1768166" y="4224403"/>
                <a:ext cx="432000" cy="432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9991A36-50AF-6EC7-F752-77CA0332CCE1}"/>
                  </a:ext>
                </a:extLst>
              </p:cNvPr>
              <p:cNvSpPr/>
              <p:nvPr/>
            </p:nvSpPr>
            <p:spPr>
              <a:xfrm>
                <a:off x="9360442" y="4224403"/>
                <a:ext cx="432000" cy="432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 b="1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C40C0AC-A3A0-0F69-D998-CE96847CA6DB}"/>
                  </a:ext>
                </a:extLst>
              </p:cNvPr>
              <p:cNvSpPr/>
              <p:nvPr/>
            </p:nvSpPr>
            <p:spPr>
              <a:xfrm>
                <a:off x="11090366" y="4224403"/>
                <a:ext cx="432000" cy="4320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 b="1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861C7749-B5D2-F627-9F29-DB7D3F388779}"/>
                  </a:ext>
                </a:extLst>
              </p:cNvPr>
              <p:cNvCxnSpPr>
                <a:stCxn id="21" idx="3"/>
                <a:endCxn id="24" idx="1"/>
              </p:cNvCxnSpPr>
              <p:nvPr/>
            </p:nvCxnSpPr>
            <p:spPr>
              <a:xfrm>
                <a:off x="1251915" y="4440403"/>
                <a:ext cx="51625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21178A6-2695-CDE8-D76C-62C77939F742}"/>
                  </a:ext>
                </a:extLst>
              </p:cNvPr>
              <p:cNvCxnSpPr>
                <a:cxnSpLocks/>
                <a:stCxn id="24" idx="3"/>
                <a:endCxn id="22" idx="1"/>
              </p:cNvCxnSpPr>
              <p:nvPr/>
            </p:nvCxnSpPr>
            <p:spPr>
              <a:xfrm>
                <a:off x="2200166" y="4440403"/>
                <a:ext cx="51625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5C4A6BB4-D439-B177-1ED1-CF26F3614714}"/>
                  </a:ext>
                </a:extLst>
              </p:cNvPr>
              <p:cNvCxnSpPr>
                <a:cxnSpLocks/>
                <a:stCxn id="22" idx="3"/>
              </p:cNvCxnSpPr>
              <p:nvPr/>
            </p:nvCxnSpPr>
            <p:spPr>
              <a:xfrm>
                <a:off x="3004417" y="4440403"/>
                <a:ext cx="29818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0B508E54-55B6-94EB-C96E-1238CF630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0417" y="4584403"/>
                <a:ext cx="0" cy="5191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989AD1F3-5E89-2628-C292-8C47AA3E78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85404" y="4440403"/>
                <a:ext cx="51625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9003C972-62A2-69B3-16EF-A3FF5D69EA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81153" y="4440403"/>
                <a:ext cx="51625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71BF4DFD-5BFE-5C2E-54EB-831CA2BD9A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4191" y="4440403"/>
                <a:ext cx="51625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48CEE65-6EB8-C570-C473-72853045B7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3680" y="4440403"/>
                <a:ext cx="51625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51D01783-505A-1323-58BD-6705B7A0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59426" y="4440403"/>
                <a:ext cx="51625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1674D40-27F0-D101-FFC9-82389D471D25}"/>
                  </a:ext>
                </a:extLst>
              </p:cNvPr>
              <p:cNvCxnSpPr>
                <a:cxnSpLocks/>
                <a:endCxn id="56" idx="1"/>
              </p:cNvCxnSpPr>
              <p:nvPr/>
            </p:nvCxnSpPr>
            <p:spPr>
              <a:xfrm>
                <a:off x="5413138" y="4440403"/>
                <a:ext cx="91747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107855E-63EB-A51D-3FE6-D665CEFB95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8887" y="4440403"/>
                <a:ext cx="51625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0DB11A5-0F02-C9E8-A307-6632F297ECF8}"/>
                  </a:ext>
                </a:extLst>
              </p:cNvPr>
              <p:cNvSpPr/>
              <p:nvPr/>
            </p:nvSpPr>
            <p:spPr>
              <a:xfrm>
                <a:off x="2644417" y="5103589"/>
                <a:ext cx="432000" cy="432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34D9F274-40F8-9F79-1487-053B94E5CB9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907006" y="4843996"/>
                <a:ext cx="3504677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B07E322-569D-D08B-087A-68A54AD3FA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0417" y="5535589"/>
                <a:ext cx="0" cy="5191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B73E62C-133A-4DD1-D979-DBFA6C3B6E90}"/>
                  </a:ext>
                </a:extLst>
              </p:cNvPr>
              <p:cNvSpPr/>
              <p:nvPr/>
            </p:nvSpPr>
            <p:spPr>
              <a:xfrm>
                <a:off x="2788417" y="6061151"/>
                <a:ext cx="144000" cy="14296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334C72A-91E0-5654-5F43-593C0884D9B2}"/>
                  </a:ext>
                </a:extLst>
              </p:cNvPr>
              <p:cNvSpPr/>
              <p:nvPr/>
            </p:nvSpPr>
            <p:spPr>
              <a:xfrm>
                <a:off x="5114811" y="4296403"/>
                <a:ext cx="288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07E68643-16E3-E9AE-0290-EAB78C5669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58811" y="4584403"/>
                <a:ext cx="0" cy="5191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D7A8397-27F6-64F4-22E5-AC104DC2E10E}"/>
                  </a:ext>
                </a:extLst>
              </p:cNvPr>
              <p:cNvSpPr/>
              <p:nvPr/>
            </p:nvSpPr>
            <p:spPr>
              <a:xfrm>
                <a:off x="5042811" y="5103589"/>
                <a:ext cx="432000" cy="432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2F9DD55A-BF5A-4E20-C44D-49B53B7060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58811" y="5535589"/>
                <a:ext cx="0" cy="5191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A04F7DF-D981-3034-5F14-174A6406272A}"/>
                  </a:ext>
                </a:extLst>
              </p:cNvPr>
              <p:cNvSpPr/>
              <p:nvPr/>
            </p:nvSpPr>
            <p:spPr>
              <a:xfrm>
                <a:off x="5186811" y="6061151"/>
                <a:ext cx="144000" cy="14296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2B2C457-9B47-3A41-DE4D-C95D34810DFE}"/>
                  </a:ext>
                </a:extLst>
              </p:cNvPr>
              <p:cNvSpPr/>
              <p:nvPr/>
            </p:nvSpPr>
            <p:spPr>
              <a:xfrm>
                <a:off x="7275680" y="4296403"/>
                <a:ext cx="288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39DFDAAA-E4E7-F009-7035-CCB690205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9680" y="4584403"/>
                <a:ext cx="0" cy="5191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87A5517-98E0-A976-19F7-5CDF7ADC62B0}"/>
                  </a:ext>
                </a:extLst>
              </p:cNvPr>
              <p:cNvSpPr/>
              <p:nvPr/>
            </p:nvSpPr>
            <p:spPr>
              <a:xfrm>
                <a:off x="10292172" y="4296403"/>
                <a:ext cx="288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04C8CF11-AFBC-0C5B-2E82-170F2AAF05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6172" y="4584403"/>
                <a:ext cx="0" cy="5191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98506027-06FA-42BC-4FB8-277B95E0BB7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723057" y="3966278"/>
                <a:ext cx="51625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BDC25C2-5A91-6374-207F-C9B5C38CC8B1}"/>
                  </a:ext>
                </a:extLst>
              </p:cNvPr>
              <p:cNvSpPr/>
              <p:nvPr/>
            </p:nvSpPr>
            <p:spPr>
              <a:xfrm>
                <a:off x="1909182" y="3552991"/>
                <a:ext cx="144000" cy="14296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F2A7BDD-7C4B-933B-7F4B-47E7DA0880C9}"/>
                  </a:ext>
                </a:extLst>
              </p:cNvPr>
              <p:cNvSpPr/>
              <p:nvPr/>
            </p:nvSpPr>
            <p:spPr>
              <a:xfrm>
                <a:off x="4169407" y="4224403"/>
                <a:ext cx="432000" cy="432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5DBE95B8-49EA-D2F5-7B7C-E2CA5A8CE17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124298" y="3966278"/>
                <a:ext cx="51625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0DE5DFF7-E00C-C3E1-15B2-5F5B54AE7D82}"/>
                  </a:ext>
                </a:extLst>
              </p:cNvPr>
              <p:cNvSpPr/>
              <p:nvPr/>
            </p:nvSpPr>
            <p:spPr>
              <a:xfrm>
                <a:off x="4310423" y="3552991"/>
                <a:ext cx="144000" cy="14296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0EC4EE9-64D7-84B2-8881-E3C397B608B8}"/>
                  </a:ext>
                </a:extLst>
              </p:cNvPr>
              <p:cNvSpPr/>
              <p:nvPr/>
            </p:nvSpPr>
            <p:spPr>
              <a:xfrm>
                <a:off x="6330610" y="4224403"/>
                <a:ext cx="432000" cy="432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200"/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E3466719-42BE-8C4D-DE4A-9443C044CB5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285501" y="3966278"/>
                <a:ext cx="51625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F93511DA-8A2A-9A23-B14A-3676A6850E3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315674" y="3966278"/>
                <a:ext cx="51625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D5E8C3F6-3A35-DEA8-2E4C-34AAF2D86E46}"/>
                      </a:ext>
                    </a:extLst>
                  </p:cNvPr>
                  <p:cNvSpPr txBox="1"/>
                  <p:nvPr/>
                </p:nvSpPr>
                <p:spPr>
                  <a:xfrm>
                    <a:off x="552073" y="4738525"/>
                    <a:ext cx="1003166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̂"/>
                              <m:ctrlPr>
                                <a:rPr lang="en-US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d>
                            <m:dPr>
                              <m:endChr m:val="|"/>
                              <m:ctrlPr>
                                <a:rPr lang="nl-NL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l-NL" sz="1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bSup>
                            <m:sSubSupPr>
                              <m:ctrlPr>
                                <a:rPr lang="nl-NL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l-NL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  <m:sup>
                              <m:r>
                                <a:rPr lang="nl-NL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nl-NL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200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D5E8C3F6-3A35-DEA8-2E4C-34AAF2D86E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073" y="4738525"/>
                    <a:ext cx="1003166" cy="29501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5882" t="-12500" r="-7843" b="-3125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DCC17572-B09A-85EB-DA5B-B7AA63F24E97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85003" y="3125456"/>
                    <a:ext cx="134912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  <m:sup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DCC17572-B09A-85EB-DA5B-B7AA63F24E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685003" y="3125456"/>
                    <a:ext cx="134912" cy="29501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2857" r="-142857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A5334967-CD1F-90B4-674A-83C748AD76C5}"/>
                      </a:ext>
                    </a:extLst>
                  </p:cNvPr>
                  <p:cNvSpPr txBox="1"/>
                  <p:nvPr/>
                </p:nvSpPr>
                <p:spPr>
                  <a:xfrm>
                    <a:off x="1341739" y="4007182"/>
                    <a:ext cx="294710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A5334967-CD1F-90B4-674A-83C748AD7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1739" y="4007182"/>
                    <a:ext cx="294710" cy="29501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2500" r="-6250" b="-125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DE5367B1-C31C-4A2F-363E-86141035818E}"/>
                      </a:ext>
                    </a:extLst>
                  </p:cNvPr>
                  <p:cNvSpPr txBox="1"/>
                  <p:nvPr/>
                </p:nvSpPr>
                <p:spPr>
                  <a:xfrm>
                    <a:off x="2012353" y="3750549"/>
                    <a:ext cx="301575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DE5367B1-C31C-4A2F-363E-8614103581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12353" y="3750549"/>
                    <a:ext cx="301575" cy="29501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2500" r="-12500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A09534F9-8F05-7A9B-AEA4-67A3D3A8F650}"/>
                      </a:ext>
                    </a:extLst>
                  </p:cNvPr>
                  <p:cNvSpPr txBox="1"/>
                  <p:nvPr/>
                </p:nvSpPr>
                <p:spPr>
                  <a:xfrm>
                    <a:off x="3616889" y="4006141"/>
                    <a:ext cx="246781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A09534F9-8F05-7A9B-AEA4-67A3D3A8F6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16889" y="4006141"/>
                    <a:ext cx="246781" cy="29501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3077" r="-100000" b="-20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6322FEB2-00E6-0891-7602-41747BFAE205}"/>
                      </a:ext>
                    </a:extLst>
                  </p:cNvPr>
                  <p:cNvSpPr txBox="1"/>
                  <p:nvPr/>
                </p:nvSpPr>
                <p:spPr>
                  <a:xfrm>
                    <a:off x="5818852" y="4007182"/>
                    <a:ext cx="246781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6322FEB2-00E6-0891-7602-41747BFAE2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8852" y="4007182"/>
                    <a:ext cx="246781" cy="29501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3077" r="-15385" b="-125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5615674D-48F7-1900-C145-DF135011B225}"/>
                      </a:ext>
                    </a:extLst>
                  </p:cNvPr>
                  <p:cNvSpPr txBox="1"/>
                  <p:nvPr/>
                </p:nvSpPr>
                <p:spPr>
                  <a:xfrm>
                    <a:off x="8778772" y="4005625"/>
                    <a:ext cx="246781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5615674D-48F7-1900-C145-DF135011B2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78772" y="4005625"/>
                    <a:ext cx="246781" cy="29501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3077" r="-115385" b="-20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4FCB09C2-A32A-5E03-1670-BFC8D8279A88}"/>
                      </a:ext>
                    </a:extLst>
                  </p:cNvPr>
                  <p:cNvSpPr txBox="1"/>
                  <p:nvPr/>
                </p:nvSpPr>
                <p:spPr>
                  <a:xfrm>
                    <a:off x="10516486" y="3966276"/>
                    <a:ext cx="246781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4FCB09C2-A32A-5E03-1670-BFC8D8279A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16486" y="3966276"/>
                    <a:ext cx="246781" cy="29501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3077" r="-30769" b="-20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8D27293A-0B21-EBAF-32BB-96ACD75EB476}"/>
                      </a:ext>
                    </a:extLst>
                  </p:cNvPr>
                  <p:cNvSpPr txBox="1"/>
                  <p:nvPr/>
                </p:nvSpPr>
                <p:spPr>
                  <a:xfrm>
                    <a:off x="4435573" y="3750547"/>
                    <a:ext cx="246781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8D27293A-0B21-EBAF-32BB-96ACD75EB4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35573" y="3750547"/>
                    <a:ext cx="246781" cy="29501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3077" r="-15385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F607BECA-017C-2BBA-CA14-876081E07A69}"/>
                      </a:ext>
                    </a:extLst>
                  </p:cNvPr>
                  <p:cNvSpPr txBox="1"/>
                  <p:nvPr/>
                </p:nvSpPr>
                <p:spPr>
                  <a:xfrm>
                    <a:off x="6636335" y="3750546"/>
                    <a:ext cx="212676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F607BECA-017C-2BBA-CA14-876081E07A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36335" y="3750546"/>
                    <a:ext cx="212676" cy="29501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7273" r="-145455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994C9A76-D24C-1D31-B623-2BECDB245443}"/>
                      </a:ext>
                    </a:extLst>
                  </p:cNvPr>
                  <p:cNvSpPr txBox="1"/>
                  <p:nvPr/>
                </p:nvSpPr>
                <p:spPr>
                  <a:xfrm>
                    <a:off x="9633327" y="3752643"/>
                    <a:ext cx="246781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994C9A76-D24C-1D31-B623-2BECDB2454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33327" y="3752643"/>
                    <a:ext cx="246781" cy="29501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3077" r="-30769"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012C5366-42C3-05C6-9465-C9D38E099E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4614" y="4440403"/>
                <a:ext cx="29818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F183E6B4-4C01-F1B4-BD93-270EA7E66B5F}"/>
                      </a:ext>
                    </a:extLst>
                  </p:cNvPr>
                  <p:cNvSpPr txBox="1"/>
                  <p:nvPr/>
                </p:nvSpPr>
                <p:spPr>
                  <a:xfrm>
                    <a:off x="2883874" y="5641408"/>
                    <a:ext cx="385085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F183E6B4-4C01-F1B4-BD93-270EA7E66B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3874" y="5641408"/>
                    <a:ext cx="385085" cy="29501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5000" b="-2666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49C05956-39CA-F3E7-5D91-75D0CE75C7B3}"/>
                      </a:ext>
                    </a:extLst>
                  </p:cNvPr>
                  <p:cNvSpPr txBox="1"/>
                  <p:nvPr/>
                </p:nvSpPr>
                <p:spPr>
                  <a:xfrm>
                    <a:off x="4886920" y="5641408"/>
                    <a:ext cx="385085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49C05956-39CA-F3E7-5D91-75D0CE75C7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86920" y="5641408"/>
                    <a:ext cx="385085" cy="29501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5000" b="-2666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1B7961BD-0998-FE37-1E8E-615F0ABCB635}"/>
                      </a:ext>
                    </a:extLst>
                  </p:cNvPr>
                  <p:cNvSpPr txBox="1"/>
                  <p:nvPr/>
                </p:nvSpPr>
                <p:spPr>
                  <a:xfrm>
                    <a:off x="3114881" y="5173001"/>
                    <a:ext cx="952766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nl-NL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nl-NL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nl-NL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1B7961BD-0998-FE37-1E8E-615F0ABCB6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4881" y="5173001"/>
                    <a:ext cx="952766" cy="29501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8333" r="-8333" b="-3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76C20F80-2A10-1AC8-1657-2DE73B80D297}"/>
                      </a:ext>
                    </a:extLst>
                  </p:cNvPr>
                  <p:cNvSpPr txBox="1"/>
                  <p:nvPr/>
                </p:nvSpPr>
                <p:spPr>
                  <a:xfrm>
                    <a:off x="5704570" y="4705495"/>
                    <a:ext cx="1718791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nl-NL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l-NL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nl-NL" sz="12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nl-NL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nl-NL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76C20F80-2A10-1AC8-1657-2DE73B80D2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4570" y="4705495"/>
                    <a:ext cx="1718791" cy="29501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3488" r="-4651" b="-3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13E1998-E74C-2C83-5971-A07D20A8020D}"/>
                  </a:ext>
                </a:extLst>
              </p:cNvPr>
              <p:cNvSpPr txBox="1"/>
              <p:nvPr/>
            </p:nvSpPr>
            <p:spPr>
              <a:xfrm>
                <a:off x="10221250" y="4224691"/>
                <a:ext cx="425627" cy="442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sz="1200" dirty="0"/>
                  <a:t>=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004F173-5C36-6A0F-1EAB-E313D3AEF893}"/>
                  </a:ext>
                </a:extLst>
              </p:cNvPr>
              <p:cNvSpPr txBox="1"/>
              <p:nvPr/>
            </p:nvSpPr>
            <p:spPr>
              <a:xfrm>
                <a:off x="2638675" y="4209225"/>
                <a:ext cx="425627" cy="442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sz="1200" dirty="0"/>
                  <a:t>=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2915D4-58DD-6C28-88F5-F7CF095A45EC}"/>
                  </a:ext>
                </a:extLst>
              </p:cNvPr>
              <p:cNvSpPr txBox="1"/>
              <p:nvPr/>
            </p:nvSpPr>
            <p:spPr>
              <a:xfrm>
                <a:off x="7207364" y="4212709"/>
                <a:ext cx="425627" cy="442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sz="1200" dirty="0"/>
                  <a:t>=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C8A65E5-3542-26F0-2645-B91C5B9EA6B0}"/>
                  </a:ext>
                </a:extLst>
              </p:cNvPr>
              <p:cNvSpPr txBox="1"/>
              <p:nvPr/>
            </p:nvSpPr>
            <p:spPr>
              <a:xfrm>
                <a:off x="5047575" y="4231427"/>
                <a:ext cx="425627" cy="442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L" sz="1200" dirty="0"/>
                  <a:t>=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B16B4807-E07F-3760-A803-A219BD096444}"/>
                      </a:ext>
                    </a:extLst>
                  </p:cNvPr>
                  <p:cNvSpPr txBox="1"/>
                  <p:nvPr/>
                </p:nvSpPr>
                <p:spPr>
                  <a:xfrm>
                    <a:off x="5716400" y="6424113"/>
                    <a:ext cx="385085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/>
                          </m:sSub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B16B4807-E07F-3760-A803-A219BD0964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6400" y="6424113"/>
                    <a:ext cx="385085" cy="29501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5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0" name="Elbow Connector 79">
                <a:extLst>
                  <a:ext uri="{FF2B5EF4-FFF2-40B4-BE49-F238E27FC236}">
                    <a16:creationId xmlns:a16="http://schemas.microsoft.com/office/drawing/2014/main" id="{9948EF7F-F1D1-DB1F-282E-5A713347E63E}"/>
                  </a:ext>
                </a:extLst>
              </p:cNvPr>
              <p:cNvCxnSpPr>
                <a:cxnSpLocks/>
                <a:endCxn id="26" idx="3"/>
              </p:cNvCxnSpPr>
              <p:nvPr/>
            </p:nvCxnSpPr>
            <p:spPr>
              <a:xfrm rot="5400000">
                <a:off x="10837976" y="3503007"/>
                <a:ext cx="1621787" cy="253005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58B7AC25-1DAF-A7AA-D87B-1CA0282E514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1340070" y="3127127"/>
                    <a:ext cx="396045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  <m:sup>
                              <m:r>
                                <a:rPr lang="nl-NL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oMath>
                      </m:oMathPara>
                    </a14:m>
                    <a:endParaRPr lang="en-NL" sz="1200" dirty="0"/>
                  </a:p>
                </p:txBody>
              </p:sp>
            </mc:Choice>
            <mc:Fallback xmlns="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58B7AC25-1DAF-A7AA-D87B-1CA0282E51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1340070" y="3127127"/>
                    <a:ext cx="396045" cy="29501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1333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DCD8E185-9670-88EF-6244-0272B61FDADC}"/>
                      </a:ext>
                    </a:extLst>
                  </p:cNvPr>
                  <p:cNvSpPr txBox="1"/>
                  <p:nvPr/>
                </p:nvSpPr>
                <p:spPr>
                  <a:xfrm>
                    <a:off x="10870805" y="4738525"/>
                    <a:ext cx="1022422" cy="2950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̂"/>
                              <m:ctrlPr>
                                <a:rPr lang="en-US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d>
                            <m:dPr>
                              <m:endChr m:val="|"/>
                              <m:ctrlPr>
                                <a:rPr lang="nl-NL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nl-NL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  <m:sSubSup>
                            <m:sSubSupPr>
                              <m:ctrlPr>
                                <a:rPr lang="nl-NL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l-NL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  <m:sup>
                              <m:r>
                                <a:rPr lang="nl-NL" sz="1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nl-NL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NL" sz="1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DCD8E185-9670-88EF-6244-0272B61FDA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0805" y="4738525"/>
                    <a:ext cx="1022422" cy="29501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5882" t="-12500" r="-7843" b="-3125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86B6244-36DD-8D27-58D1-9F7B8A89FCA7}"/>
                  </a:ext>
                </a:extLst>
              </p:cNvPr>
              <p:cNvCxnSpPr/>
              <p:nvPr/>
            </p:nvCxnSpPr>
            <p:spPr>
              <a:xfrm>
                <a:off x="3402904" y="4440403"/>
                <a:ext cx="36240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9E370918-71C2-9B0B-C185-059D2DA298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8285" y="4440403"/>
                <a:ext cx="528181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DFAD9AB-775B-95B6-1447-03CB29A9B2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73799" y="4653815"/>
                <a:ext cx="0" cy="5191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27476C7E-8087-C1BF-2306-E4C3B487A268}"/>
              </a:ext>
            </a:extLst>
          </p:cNvPr>
          <p:cNvSpPr txBox="1"/>
          <p:nvPr/>
        </p:nvSpPr>
        <p:spPr>
          <a:xfrm>
            <a:off x="310661" y="5798145"/>
            <a:ext cx="10662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other words, selecting policies by minimizing Expected Free Energy (EFE) </a:t>
            </a:r>
            <a:r>
              <a:rPr lang="en-US" i="1" dirty="0">
                <a:solidFill>
                  <a:srgbClr val="FF0000"/>
                </a:solidFill>
              </a:rPr>
              <a:t>emerges naturally from standard variational free energy minimization </a:t>
            </a:r>
            <a:r>
              <a:rPr lang="en-US" dirty="0"/>
              <a:t>when applied to a rollout of the generative model into the future, where the inference process is guided by both </a:t>
            </a:r>
            <a:r>
              <a:rPr lang="en-US" dirty="0">
                <a:solidFill>
                  <a:srgbClr val="0070C0"/>
                </a:solidFill>
              </a:rPr>
              <a:t>target priors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epistemic priors</a:t>
            </a:r>
            <a:r>
              <a:rPr lang="en-US" dirty="0"/>
              <a:t>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FA06ED-3FE8-9D6C-8DC2-7B498F5B2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1" y="160597"/>
            <a:ext cx="11570677" cy="672367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EFE-based Planning as Inference: </a:t>
            </a:r>
            <a:r>
              <a:rPr lang="en-US" sz="2800" i="1" dirty="0">
                <a:solidFill>
                  <a:srgbClr val="0070C0"/>
                </a:solidFill>
              </a:rPr>
              <a:t>The Expected Free Energy Theorem</a:t>
            </a:r>
            <a:endParaRPr lang="en-US" sz="2800" dirty="0">
              <a:solidFill>
                <a:srgbClr val="0070C0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A02D8C5-8401-9507-DBC2-7FB2E12F64E6}"/>
              </a:ext>
            </a:extLst>
          </p:cNvPr>
          <p:cNvGrpSpPr/>
          <p:nvPr/>
        </p:nvGrpSpPr>
        <p:grpSpPr>
          <a:xfrm>
            <a:off x="310661" y="3148792"/>
            <a:ext cx="8164310" cy="1097067"/>
            <a:chOff x="310661" y="3148792"/>
            <a:chExt cx="8164310" cy="1097067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8742DBD-107D-3786-4E82-A6723DEB7309}"/>
                </a:ext>
              </a:extLst>
            </p:cNvPr>
            <p:cNvSpPr txBox="1"/>
            <p:nvPr/>
          </p:nvSpPr>
          <p:spPr>
            <a:xfrm>
              <a:off x="310661" y="3148792"/>
              <a:ext cx="19150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If we choose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1930711-8782-6815-E032-079CD207E779}"/>
                    </a:ext>
                  </a:extLst>
                </p:cNvPr>
                <p:cNvSpPr txBox="1"/>
                <p:nvPr/>
              </p:nvSpPr>
              <p:spPr>
                <a:xfrm>
                  <a:off x="2525585" y="3687623"/>
                  <a:ext cx="594938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nl-N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N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d>
                        <m:dPr>
                          <m:ctrlPr>
                            <a:rPr lang="nl-N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l-G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l-G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fName>
                        <m:e>
                          <m:d>
                            <m:dPr>
                              <m:ctrlPr>
                                <a:rPr lang="nl-NL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NL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nl-NL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nl-NL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e>
                                      <m:r>
                                        <a:rPr lang="nl-NL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dirty="0"/>
                    <a:t>    and     </a:t>
                  </a:r>
                  <a14:m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nl-NL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NL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d>
                        <m:dPr>
                          <m:ctrlPr>
                            <a:rPr lang="nl-N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nl-NL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l-GR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l-GR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fName>
                        <m:e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nl-NL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nl-NL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nl-NL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1930711-8782-6815-E032-079CD207E7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585" y="3687623"/>
                  <a:ext cx="5949386" cy="400110"/>
                </a:xfrm>
                <a:prstGeom prst="rect">
                  <a:avLst/>
                </a:prstGeom>
                <a:blipFill>
                  <a:blip r:embed="rId24"/>
                  <a:stretch>
                    <a:fillRect t="-606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CCC03E-4C9A-F8B8-1A77-837E847958EC}"/>
                </a:ext>
              </a:extLst>
            </p:cNvPr>
            <p:cNvSpPr txBox="1"/>
            <p:nvPr/>
          </p:nvSpPr>
          <p:spPr>
            <a:xfrm>
              <a:off x="429844" y="3845749"/>
              <a:ext cx="12650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    then …  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6692D67A-6BC9-7783-1C74-7C5F4D57441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55530" y="4330267"/>
            <a:ext cx="7772400" cy="1296519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hlinkClick r:id="rId26"/>
            <a:extLst>
              <a:ext uri="{FF2B5EF4-FFF2-40B4-BE49-F238E27FC236}">
                <a16:creationId xmlns:a16="http://schemas.microsoft.com/office/drawing/2014/main" id="{71D68BEC-7258-CEBC-5722-164C82DF3C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418808">
            <a:off x="929470" y="959201"/>
            <a:ext cx="9744521" cy="50583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2920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8AF0-BF05-D870-44B3-9CE041EB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6C1819-5DDC-73CD-702B-09E68752B109}"/>
              </a:ext>
            </a:extLst>
          </p:cNvPr>
          <p:cNvSpPr txBox="1"/>
          <p:nvPr/>
        </p:nvSpPr>
        <p:spPr>
          <a:xfrm>
            <a:off x="7197651" y="753418"/>
            <a:ext cx="346749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165798"/>
                </a:solidFill>
                <a:latin typeface="Nexa Bold" panose="02000000000000000000" pitchFamily="2" charset="0"/>
              </a:rPr>
              <a:t>~10 lines of code!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DF31CC-583B-BE31-0D58-5F26895CED0D}"/>
              </a:ext>
            </a:extLst>
          </p:cNvPr>
          <p:cNvSpPr txBox="1">
            <a:spLocks/>
          </p:cNvSpPr>
          <p:nvPr/>
        </p:nvSpPr>
        <p:spPr>
          <a:xfrm>
            <a:off x="2980714" y="122300"/>
            <a:ext cx="5489088" cy="662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165798"/>
                </a:solidFill>
                <a:latin typeface="Nexa Bold" panose="020000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b="0" dirty="0">
                <a:solidFill>
                  <a:srgbClr val="0070C0"/>
                </a:solidFill>
                <a:latin typeface="+mj-lt"/>
              </a:rPr>
              <a:t>Solving Mini-grid Door-Key Problem</a:t>
            </a:r>
          </a:p>
        </p:txBody>
      </p:sp>
      <p:pic>
        <p:nvPicPr>
          <p:cNvPr id="8" name="Picture 7" descr="A white text with black numbers and black text&#10;&#10;AI-generated content may be incorrect.">
            <a:extLst>
              <a:ext uri="{FF2B5EF4-FFF2-40B4-BE49-F238E27FC236}">
                <a16:creationId xmlns:a16="http://schemas.microsoft.com/office/drawing/2014/main" id="{113ACF54-B14E-EC6D-1640-40B1B15FD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2540" y="4886136"/>
            <a:ext cx="4178300" cy="18034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" name="video-2">
            <a:hlinkClick r:id="" action="ppaction://media"/>
            <a:extLst>
              <a:ext uri="{FF2B5EF4-FFF2-40B4-BE49-F238E27FC236}">
                <a16:creationId xmlns:a16="http://schemas.microsoft.com/office/drawing/2014/main" id="{FC93515F-88B1-8CF8-D4AF-5A0139DB2CA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27126" y="1495733"/>
            <a:ext cx="4389754" cy="43897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8342F9-C74F-37B9-5883-B4573EC0C22C}"/>
              </a:ext>
            </a:extLst>
          </p:cNvPr>
          <p:cNvSpPr txBox="1"/>
          <p:nvPr/>
        </p:nvSpPr>
        <p:spPr>
          <a:xfrm>
            <a:off x="5725258" y="4010837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rgbClr val="0070C0"/>
                </a:solidFill>
              </a:rPr>
              <a:t>goal</a:t>
            </a:r>
          </a:p>
          <a:p>
            <a:pPr algn="r"/>
            <a:r>
              <a:rPr lang="en-US" sz="1400" dirty="0">
                <a:solidFill>
                  <a:srgbClr val="0070C0"/>
                </a:solidFill>
              </a:rPr>
              <a:t>prior</a:t>
            </a:r>
          </a:p>
        </p:txBody>
      </p:sp>
      <p:pic>
        <p:nvPicPr>
          <p:cNvPr id="12" name="Picture 11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CD5F7E1B-20B2-9AF3-012B-28FB1ADFDF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0543" y="1061195"/>
            <a:ext cx="5780661" cy="3536648"/>
          </a:xfrm>
          <a:prstGeom prst="rect">
            <a:avLst/>
          </a:prstGeom>
        </p:spPr>
      </p:pic>
      <p:sp>
        <p:nvSpPr>
          <p:cNvPr id="2" name="Left Brace 1">
            <a:extLst>
              <a:ext uri="{FF2B5EF4-FFF2-40B4-BE49-F238E27FC236}">
                <a16:creationId xmlns:a16="http://schemas.microsoft.com/office/drawing/2014/main" id="{12564891-E7E2-1DE1-B984-CB74B198EAAA}"/>
              </a:ext>
            </a:extLst>
          </p:cNvPr>
          <p:cNvSpPr/>
          <p:nvPr/>
        </p:nvSpPr>
        <p:spPr>
          <a:xfrm>
            <a:off x="6306674" y="3430454"/>
            <a:ext cx="214489" cy="52176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C3D13B-EFF3-D123-EC50-08FAD5CFFBA0}"/>
              </a:ext>
            </a:extLst>
          </p:cNvPr>
          <p:cNvSpPr txBox="1"/>
          <p:nvPr/>
        </p:nvSpPr>
        <p:spPr>
          <a:xfrm>
            <a:off x="5321287" y="3429000"/>
            <a:ext cx="982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generative</a:t>
            </a:r>
          </a:p>
          <a:p>
            <a:pPr algn="r"/>
            <a:r>
              <a:rPr lang="en-US" sz="1400" dirty="0"/>
              <a:t>model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40EED790-43E8-ECEA-C156-D9C53FE5D51F}"/>
              </a:ext>
            </a:extLst>
          </p:cNvPr>
          <p:cNvSpPr/>
          <p:nvPr/>
        </p:nvSpPr>
        <p:spPr>
          <a:xfrm>
            <a:off x="6303864" y="4167968"/>
            <a:ext cx="214489" cy="208959"/>
          </a:xfrm>
          <a:prstGeom prst="leftBrac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A2865B65-50F8-4DDF-0EEE-B4D7AD566949}"/>
              </a:ext>
            </a:extLst>
          </p:cNvPr>
          <p:cNvSpPr/>
          <p:nvPr/>
        </p:nvSpPr>
        <p:spPr>
          <a:xfrm>
            <a:off x="6303864" y="2967038"/>
            <a:ext cx="214489" cy="35408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156938-8534-9FBD-B183-AA97B2356609}"/>
              </a:ext>
            </a:extLst>
          </p:cNvPr>
          <p:cNvSpPr txBox="1"/>
          <p:nvPr/>
        </p:nvSpPr>
        <p:spPr>
          <a:xfrm>
            <a:off x="5291434" y="2876472"/>
            <a:ext cx="952185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</a:rPr>
              <a:t>epistemic</a:t>
            </a:r>
          </a:p>
          <a:p>
            <a:pPr algn="r"/>
            <a:r>
              <a:rPr lang="en-US" sz="1400" dirty="0">
                <a:solidFill>
                  <a:srgbClr val="FF0000"/>
                </a:solidFill>
              </a:rPr>
              <a:t>priors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5C783634-30E0-424F-E33D-4E219B4B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826" y="6353210"/>
            <a:ext cx="482600" cy="365125"/>
          </a:xfrm>
        </p:spPr>
        <p:txBody>
          <a:bodyPr/>
          <a:lstStyle/>
          <a:p>
            <a:pPr algn="l"/>
            <a:fld id="{179F0A8B-17BC-3448-AF3F-C2704C45AA7C}" type="slidenum">
              <a:rPr lang="en-US" smtClean="0"/>
              <a:pPr algn="l"/>
              <a:t>16</a:t>
            </a:fld>
            <a:endParaRPr lang="en-US" dirty="0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DF63D29A-10EA-D594-0999-61A8B889D089}"/>
              </a:ext>
            </a:extLst>
          </p:cNvPr>
          <p:cNvSpPr/>
          <p:nvPr/>
        </p:nvSpPr>
        <p:spPr>
          <a:xfrm>
            <a:off x="6078710" y="1371465"/>
            <a:ext cx="214489" cy="100520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EFAF9A-D42D-0F0A-98A7-CC5EA76E5F73}"/>
              </a:ext>
            </a:extLst>
          </p:cNvPr>
          <p:cNvSpPr txBox="1"/>
          <p:nvPr/>
        </p:nvSpPr>
        <p:spPr>
          <a:xfrm>
            <a:off x="5534665" y="1720177"/>
            <a:ext cx="625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setup</a:t>
            </a:r>
          </a:p>
        </p:txBody>
      </p:sp>
    </p:spTree>
    <p:extLst>
      <p:ext uri="{BB962C8B-B14F-4D97-AF65-F5344CB8AC3E}">
        <p14:creationId xmlns:p14="http://schemas.microsoft.com/office/powerpoint/2010/main" val="222450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2DBBE-07F9-0EF4-0FE5-E0E15CA2C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195"/>
            <a:ext cx="10515600" cy="503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Why Active Inference Agents (rather than RL, MPC, …)?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EF66F-B944-DC13-E253-5300B6BC7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7246"/>
            <a:ext cx="10608733" cy="5179103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sz="3200" dirty="0"/>
              <a:t>People say (I’ve heard …)</a:t>
            </a:r>
          </a:p>
          <a:p>
            <a:pPr marL="971550" lvl="1" indent="-514350">
              <a:lnSpc>
                <a:spcPct val="12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US" sz="3100" dirty="0">
                <a:solidFill>
                  <a:srgbClr val="FF0000"/>
                </a:solidFill>
              </a:rPr>
              <a:t>Principled</a:t>
            </a:r>
            <a:r>
              <a:rPr lang="en-US" sz="3100" dirty="0"/>
              <a:t>. Derived from foundational physics / information theory.</a:t>
            </a:r>
          </a:p>
          <a:p>
            <a:pPr marL="971550" lvl="1" indent="-514350">
              <a:lnSpc>
                <a:spcPct val="12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US" sz="3100" dirty="0"/>
              <a:t>EFE-based planning balances goal-driven vs information-seeking behavior, </a:t>
            </a:r>
            <a:r>
              <a:rPr lang="en-US" sz="3100" dirty="0">
                <a:solidFill>
                  <a:srgbClr val="FF0000"/>
                </a:solidFill>
              </a:rPr>
              <a:t>without need for tuning parameters</a:t>
            </a:r>
            <a:r>
              <a:rPr lang="en-US" sz="3100" dirty="0"/>
              <a:t>.</a:t>
            </a:r>
          </a:p>
          <a:p>
            <a:pPr marL="971550" lvl="1" indent="-514350">
              <a:lnSpc>
                <a:spcPct val="12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US" sz="3100" dirty="0"/>
              <a:t>AIF requires </a:t>
            </a:r>
            <a:r>
              <a:rPr lang="en-US" sz="3100" dirty="0">
                <a:solidFill>
                  <a:srgbClr val="FF0000"/>
                </a:solidFill>
              </a:rPr>
              <a:t>no reward function</a:t>
            </a:r>
            <a:r>
              <a:rPr lang="en-US" sz="3100" dirty="0"/>
              <a:t>.</a:t>
            </a:r>
          </a:p>
          <a:p>
            <a:pPr marL="971550" lvl="1" indent="-514350">
              <a:lnSpc>
                <a:spcPct val="12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US" sz="3100" dirty="0"/>
              <a:t>AIF is </a:t>
            </a:r>
            <a:r>
              <a:rPr lang="en-US" sz="3100" i="1" dirty="0">
                <a:solidFill>
                  <a:srgbClr val="FF0000"/>
                </a:solidFill>
              </a:rPr>
              <a:t>explainable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/>
              <a:t>and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i="1" dirty="0">
                <a:solidFill>
                  <a:srgbClr val="FF0000"/>
                </a:solidFill>
              </a:rPr>
              <a:t>trustworthy</a:t>
            </a:r>
            <a:r>
              <a:rPr lang="en-US" sz="3100" dirty="0"/>
              <a:t>, due to separation of assumptions from a Bayes-optimal reasoning process. (application to medical AI!!) </a:t>
            </a:r>
            <a:endParaRPr lang="en-US" sz="3200" dirty="0"/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sz="3200" dirty="0"/>
              <a:t>Yes, plus … </a:t>
            </a:r>
          </a:p>
          <a:p>
            <a:pPr marL="971550" lvl="1" indent="-51435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5"/>
            </a:pPr>
            <a:r>
              <a:rPr lang="en-US" sz="3100" dirty="0">
                <a:solidFill>
                  <a:srgbClr val="FF0000"/>
                </a:solidFill>
              </a:rPr>
              <a:t>Robustness by RMP realization! </a:t>
            </a:r>
            <a:r>
              <a:rPr lang="en-US" sz="3100" dirty="0"/>
              <a:t>RMP-AIF is a reactive, fully-distributed (in both time and space) process, which is robust to fluctuating computational resources (both in energy, data, and time). </a:t>
            </a:r>
          </a:p>
          <a:p>
            <a:pPr lvl="2">
              <a:lnSpc>
                <a:spcPct val="120000"/>
              </a:lnSpc>
              <a:spcAft>
                <a:spcPts val="300"/>
              </a:spcAft>
            </a:pPr>
            <a:r>
              <a:rPr lang="en-US" sz="2700" dirty="0"/>
              <a:t>Keeps working on power dips, missing and poor observations, hard interrupt at decision time, …</a:t>
            </a:r>
          </a:p>
          <a:p>
            <a:pPr lvl="2">
              <a:lnSpc>
                <a:spcPct val="120000"/>
              </a:lnSpc>
              <a:spcAft>
                <a:spcPts val="300"/>
              </a:spcAft>
            </a:pPr>
            <a:r>
              <a:rPr lang="en-US" sz="2700" dirty="0"/>
              <a:t>Planning as (interruptible!) Inference</a:t>
            </a:r>
          </a:p>
          <a:p>
            <a:pPr marL="971550" lvl="1" indent="-51435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5"/>
            </a:pPr>
            <a:r>
              <a:rPr lang="en-US" sz="3100" dirty="0">
                <a:solidFill>
                  <a:srgbClr val="FF0000"/>
                </a:solidFill>
              </a:rPr>
              <a:t>Easy to code! </a:t>
            </a:r>
            <a:r>
              <a:rPr lang="en-US" sz="3100" dirty="0"/>
              <a:t>&lt;1 page for generative model. </a:t>
            </a:r>
          </a:p>
          <a:p>
            <a:pPr marL="971550" lvl="1" indent="-51435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5"/>
            </a:pPr>
            <a:r>
              <a:rPr lang="en-US" sz="3100" dirty="0"/>
              <a:t>Potential for </a:t>
            </a:r>
            <a:r>
              <a:rPr lang="en-US" sz="3100" dirty="0">
                <a:solidFill>
                  <a:srgbClr val="FF0000"/>
                </a:solidFill>
              </a:rPr>
              <a:t>Scaling: </a:t>
            </a:r>
            <a:r>
              <a:rPr lang="en-US" sz="3100" dirty="0"/>
              <a:t>Real-time inference in large models with ultra-low computational load.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03B0B-2006-C548-1D8C-23ACF6DC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35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495F1-CB65-7E09-B649-0A41E5CE1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7CA5-212B-104A-565C-10F346270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830"/>
            <a:ext cx="10515600" cy="503555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Conclusions / Recapitulation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D3665-B1BD-D251-18BA-D943F8703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172" y="1314367"/>
            <a:ext cx="11631656" cy="50574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/>
              <a:t>The Free Energy Principle offers a principled foundation for adaptive, self-organizing agents.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Active Inference (AIF) unifies perception, learning, and control as variational Bayesian inference.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Personalized control emerges naturally in AIF agents through Expected Free Energy minimization.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Local message passing on a factor graph enables efficient, real-time inference on low-power devices.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AIF provides a promising alternative to RL/MPC in dynamic, uncertain environments.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Tooling maturity remains limited; advancing practical AIF frameworks is a key future objective.</a:t>
            </a:r>
          </a:p>
          <a:p>
            <a:pPr>
              <a:lnSpc>
                <a:spcPct val="100000"/>
              </a:lnSpc>
            </a:pPr>
            <a:r>
              <a:rPr lang="en-US" sz="2200" dirty="0" err="1"/>
              <a:t>RxInfer</a:t>
            </a:r>
            <a:r>
              <a:rPr lang="en-US" sz="2200" dirty="0"/>
              <a:t> aims to provide a path toward deployable, embedded Bayesian intelligence.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F4DCF-0F01-043A-F3A6-62DBDB09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F0A8B-17BC-3448-AF3F-C2704C45AA7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997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CE71B-B0EE-2E82-6C93-20F2F2C8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8D12-B089-A94E-A9BA-DBFEDD5ACBF6}" type="slidenum">
              <a:rPr lang="en-NL" smtClean="0"/>
              <a:t>19</a:t>
            </a:fld>
            <a:endParaRPr lang="en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A424A-5B99-F20E-78EA-BA6E61B96139}"/>
              </a:ext>
            </a:extLst>
          </p:cNvPr>
          <p:cNvSpPr txBox="1"/>
          <p:nvPr/>
        </p:nvSpPr>
        <p:spPr>
          <a:xfrm>
            <a:off x="2516982" y="3105834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3600" dirty="0">
                <a:latin typeface="+mj-lt"/>
              </a:rPr>
              <a:t>Questions?</a:t>
            </a:r>
            <a:endParaRPr lang="en-NL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236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5467</TotalTime>
  <Words>1216</Words>
  <Application>Microsoft Macintosh PowerPoint</Application>
  <PresentationFormat>Widescreen</PresentationFormat>
  <Paragraphs>295</Paragraphs>
  <Slides>19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Nexa Bold</vt:lpstr>
      <vt:lpstr>Office Theme</vt:lpstr>
      <vt:lpstr>Active Inference and the Free Energy Principle  Bert de Vries Eindhoven University of Technology  Nov 2026</vt:lpstr>
      <vt:lpstr>PowerPoint Presentation</vt:lpstr>
      <vt:lpstr>The Principle of Least Action</vt:lpstr>
      <vt:lpstr>PowerPoint Presentation</vt:lpstr>
      <vt:lpstr>PowerPoint Presentation</vt:lpstr>
      <vt:lpstr>PowerPoint Presentation</vt:lpstr>
      <vt:lpstr>Intermezzo: Bayesian Inference vs Variational Inference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Active Inference-based Planning by Message Passing? </vt:lpstr>
      <vt:lpstr>EFE-based Planning by Message Passing </vt:lpstr>
      <vt:lpstr>EFE-based Planning as Inference: The Expected Free Energy Theorem</vt:lpstr>
      <vt:lpstr>PowerPoint Presentation</vt:lpstr>
      <vt:lpstr>Why Active Inference Agents (rather than RL, MPC, …)?</vt:lpstr>
      <vt:lpstr>Conclusions / Recapitulation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Vries, Bert de</dc:creator>
  <cp:lastModifiedBy>Vries, Bert de</cp:lastModifiedBy>
  <cp:revision>84</cp:revision>
  <dcterms:created xsi:type="dcterms:W3CDTF">2025-04-27T05:25:39Z</dcterms:created>
  <dcterms:modified xsi:type="dcterms:W3CDTF">2026-09-25T08:34:23Z</dcterms:modified>
</cp:coreProperties>
</file>